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embeddedFontLst>
    <p:embeddedFont>
      <p:font typeface="Inter Bold"/>
      <p:regular r:id="rId201314"/>
    </p:embeddedFont>
    <p:embeddedFont>
      <p:font typeface="Inter"/>
      <p:regular r:id="rId201315"/>
    </p:embeddedFont>
    <p:embeddedFont>
      <p:font typeface="Inter Black"/>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6F4F4"/>
          </a:solidFill>
          <a:ln/>
        </p:spPr>
      </p:sp>
      <p:sp>
        <p:nvSpPr>
          <p:cNvPr id="3" name="Shape 1"/>
          <p:cNvSpPr/>
          <p:nvPr/>
        </p:nvSpPr>
        <p:spPr>
          <a:xfrm>
            <a:off x="0" y="0"/>
            <a:ext cx="9144000" cy="51435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image" Target="../media/image-4-1.png"/><Relationship Id="rId4" Type="http://schemas.openxmlformats.org/officeDocument/2006/relationships/image" Target="../media/image-4-2.svg"/><Relationship Id="rId5" Type="http://schemas.openxmlformats.org/officeDocument/2006/relationships/image" Target="../media/image-4-1.png"/><Relationship Id="rId6" Type="http://schemas.openxmlformats.org/officeDocument/2006/relationships/image" Target="../media/image-4-2.svg"/><Relationship Id="rId7" Type="http://schemas.openxmlformats.org/officeDocument/2006/relationships/image" Target="../media/image-4-1.png"/><Relationship Id="rId8" Type="http://schemas.openxmlformats.org/officeDocument/2006/relationships/image" Target="../media/image-4-2.svg"/><Relationship Id="rId9" Type="http://schemas.openxmlformats.org/officeDocument/2006/relationships/slideLayout" Target="../slideLayouts/slideLayout2.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image" Target="../media/image-7-3.png"/><Relationship Id="rId4" Type="http://schemas.openxmlformats.org/officeDocument/2006/relationships/image" Target="../media/image-7-4.svg"/><Relationship Id="rId5" Type="http://schemas.openxmlformats.org/officeDocument/2006/relationships/image" Target="../media/image-7-5.png"/><Relationship Id="rId6" Type="http://schemas.openxmlformats.org/officeDocument/2006/relationships/image" Target="../media/image-7-6.svg"/><Relationship Id="rId7" Type="http://schemas.openxmlformats.org/officeDocument/2006/relationships/slideLayout" Target="../slideLayouts/slideLayout2.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image" Target="../media/image-9-3.png"/><Relationship Id="rId4" Type="http://schemas.openxmlformats.org/officeDocument/2006/relationships/image" Target="../media/image-9-4.svg"/><Relationship Id="rId5" Type="http://schemas.openxmlformats.org/officeDocument/2006/relationships/image" Target="../media/image-9-5.png"/><Relationship Id="rId6" Type="http://schemas.openxmlformats.org/officeDocument/2006/relationships/image" Target="../media/image-9-6.svg"/><Relationship Id="rId7" Type="http://schemas.openxmlformats.org/officeDocument/2006/relationships/image" Target="../media/image-9-7.png"/><Relationship Id="rId8" Type="http://schemas.openxmlformats.org/officeDocument/2006/relationships/image" Target="../media/image-9-8.svg"/><Relationship Id="rId9" Type="http://schemas.openxmlformats.org/officeDocument/2006/relationships/image" Target="../media/image-9-9.png"/><Relationship Id="rId10" Type="http://schemas.openxmlformats.org/officeDocument/2006/relationships/image" Target="../media/image-9-10.svg"/><Relationship Id="rId11" Type="http://schemas.openxmlformats.org/officeDocument/2006/relationships/image" Target="../media/image-9-11.png"/><Relationship Id="rId12" Type="http://schemas.openxmlformats.org/officeDocument/2006/relationships/image" Target="../media/image-9-12.svg"/><Relationship Id="rId13" Type="http://schemas.openxmlformats.org/officeDocument/2006/relationships/image" Target="../media/image-9-13.png"/><Relationship Id="rId14" Type="http://schemas.openxmlformats.org/officeDocument/2006/relationships/image" Target="../media/image-9-14.svg"/><Relationship Id="rId15" Type="http://schemas.openxmlformats.org/officeDocument/2006/relationships/slideLayout" Target="../slideLayouts/slideLayout2.xml"/><Relationship Id="rId1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715000" y="0"/>
            <a:ext cx="3429000" cy="5143500"/>
          </a:xfrm>
          <a:prstGeom prst="rect">
            <a:avLst/>
          </a:prstGeom>
          <a:solidFill>
            <a:srgbClr val="DADBF1"/>
          </a:solidFill>
          <a:ln/>
        </p:spPr>
      </p:sp>
      <p:pic>
        <p:nvPicPr>
          <p:cNvPr id="3" name="Image 0" descr="preencoded.png">    </p:cNvPr>
          <p:cNvPicPr>
            <a:picLocks noChangeAspect="1"/>
          </p:cNvPicPr>
          <p:nvPr/>
        </p:nvPicPr>
        <p:blipFill>
          <a:blip r:embed="rId1"/>
          <a:stretch>
            <a:fillRect/>
          </a:stretch>
        </p:blipFill>
        <p:spPr>
          <a:xfrm>
            <a:off x="5776987" y="92943"/>
            <a:ext cx="3305026" cy="4957539"/>
          </a:xfrm>
          <a:prstGeom prst="rect">
            <a:avLst/>
          </a:prstGeom>
        </p:spPr>
      </p:pic>
      <p:sp>
        <p:nvSpPr>
          <p:cNvPr id="4" name="Text 1"/>
          <p:cNvSpPr/>
          <p:nvPr/>
        </p:nvSpPr>
        <p:spPr>
          <a:xfrm>
            <a:off x="496119" y="842144"/>
            <a:ext cx="1074762" cy="158800"/>
          </a:xfrm>
          <a:prstGeom prst="rect">
            <a:avLst/>
          </a:prstGeom>
          <a:noFill/>
          <a:ln/>
        </p:spPr>
        <p:txBody>
          <a:bodyPr wrap="none" lIns="0" tIns="0" rIns="0" bIns="0" rtlCol="0" anchor="t"/>
          <a:lstStyle/>
          <a:p>
            <a:pPr algn="l" indent="0" marL="0">
              <a:lnSpc>
                <a:spcPct val="133000"/>
              </a:lnSpc>
              <a:buNone/>
            </a:pPr>
            <a:r>
              <a:rPr lang="ko-KR" altLang="en-US" sz="750" dirty="0">
                <a:solidFill>
                  <a:srgbClr val="4950BC"/>
                </a:solidFill>
                <a:latin typeface="Inter" pitchFamily="34" charset="0"/>
                <a:ea typeface="Inter" pitchFamily="34" charset="-122"/>
                <a:cs typeface="Inter" pitchFamily="34" charset="-120"/>
              </a:rPr>
              <a:t>A1 학술 포스터</a:t>
            </a:r>
            <a:endParaRPr lang="ko-KR" sz="750" dirty="0"/>
          </a:p>
        </p:txBody>
      </p:sp>
      <p:sp>
        <p:nvSpPr>
          <p:cNvPr id="5" name="Shape 2"/>
          <p:cNvSpPr/>
          <p:nvPr/>
        </p:nvSpPr>
        <p:spPr>
          <a:xfrm>
            <a:off x="1175668" y="804937"/>
            <a:ext cx="1236390" cy="233214"/>
          </a:xfrm>
          <a:prstGeom prst="roundRect">
            <a:avLst>
              <a:gd name="adj" fmla="val 17872"/>
            </a:avLst>
          </a:prstGeom>
          <a:noFill/>
          <a:ln/>
          <a:effectLst>
            <a:outerShdw sx="100000" sy="100000" kx="0" ky="0" algn="bl" rotWithShape="0" blurRad="101600" dist="50800" dir="16200000">
              <a:srgbClr val="4950bc">
                <a:alpha val="100000"/>
              </a:srgbClr>
            </a:outerShdw>
          </a:effectLst>
        </p:spPr>
      </p:sp>
      <p:sp>
        <p:nvSpPr>
          <p:cNvPr id="6" name="Text 3"/>
          <p:cNvSpPr/>
          <p:nvPr/>
        </p:nvSpPr>
        <p:spPr>
          <a:xfrm>
            <a:off x="1250082" y="842144"/>
            <a:ext cx="1544762" cy="158800"/>
          </a:xfrm>
          <a:prstGeom prst="rect">
            <a:avLst/>
          </a:prstGeom>
          <a:noFill/>
          <a:ln/>
        </p:spPr>
        <p:txBody>
          <a:bodyPr wrap="none" lIns="0" tIns="0" rIns="0" bIns="0" rtlCol="0" anchor="t"/>
          <a:lstStyle/>
          <a:p>
            <a:pPr algn="l" indent="0" marL="0">
              <a:lnSpc>
                <a:spcPct val="133000"/>
              </a:lnSpc>
              <a:buNone/>
            </a:pPr>
            <a:r>
              <a:rPr lang="ko-KR" altLang="en-US" sz="750" dirty="0">
                <a:solidFill>
                  <a:srgbClr val="4950BC"/>
                </a:solidFill>
                <a:latin typeface="Inter" pitchFamily="34" charset="0"/>
                <a:ea typeface="Inter" pitchFamily="34" charset="-122"/>
                <a:cs typeface="Inter" pitchFamily="34" charset="-120"/>
              </a:rPr>
              <a:t>크로스 플랫폼 데스크탑 앱</a:t>
            </a:r>
            <a:endParaRPr lang="ko-KR" sz="750" dirty="0"/>
          </a:p>
        </p:txBody>
      </p:sp>
      <p:sp>
        <p:nvSpPr>
          <p:cNvPr id="7" name="Text 4"/>
          <p:cNvSpPr/>
          <p:nvPr/>
        </p:nvSpPr>
        <p:spPr>
          <a:xfrm>
            <a:off x="496119" y="1087710"/>
            <a:ext cx="3558332" cy="387548"/>
          </a:xfrm>
          <a:prstGeom prst="rect">
            <a:avLst/>
          </a:prstGeom>
          <a:noFill/>
          <a:ln/>
        </p:spPr>
        <p:txBody>
          <a:bodyPr wrap="none" lIns="0" tIns="0" rIns="0" bIns="0" rtlCol="0" anchor="t"/>
          <a:lstStyle/>
          <a:p>
            <a:pPr algn="l" indent="0" marL="0">
              <a:lnSpc>
                <a:spcPct val="104000"/>
              </a:lnSpc>
              <a:buNone/>
            </a:pPr>
            <a:r>
              <a:rPr lang="en-US" sz="2400" b="1" dirty="0">
                <a:solidFill>
                  <a:srgbClr val="000000"/>
                </a:solidFill>
                <a:latin typeface="Inter Bold" pitchFamily="34" charset="0"/>
                <a:ea typeface="Inter Bold" pitchFamily="34" charset="-122"/>
                <a:cs typeface="Inter Bold" pitchFamily="34" charset="-120"/>
              </a:rPr>
              <a:t>Dadumi</a:t>
            </a:r>
            <a:endParaRPr lang="en-US" sz="2400" dirty="0"/>
          </a:p>
        </p:txBody>
      </p:sp>
      <p:sp>
        <p:nvSpPr>
          <p:cNvPr id="8" name="Text 5"/>
          <p:cNvSpPr/>
          <p:nvPr/>
        </p:nvSpPr>
        <p:spPr>
          <a:xfrm>
            <a:off x="496119" y="1661294"/>
            <a:ext cx="4279553" cy="1069777"/>
          </a:xfrm>
          <a:prstGeom prst="rect">
            <a:avLst/>
          </a:prstGeom>
          <a:noFill/>
          <a:ln/>
        </p:spPr>
        <p:txBody>
          <a:bodyPr wrap="square" lIns="0" tIns="0" rIns="0" bIns="0" rtlCol="0" anchor="t">
            <a:normAutofit/>
          </a:bodyPr>
          <a:lstStyle/>
          <a:p>
            <a:pPr algn="l" indent="0" marL="0">
              <a:lnSpc>
                <a:spcPct val="104000"/>
              </a:lnSpc>
              <a:buNone/>
            </a:pPr>
            <a:r>
              <a:rPr lang="ko-KR" altLang="en-US" sz="3350" b="1" dirty="0">
                <a:solidFill>
                  <a:srgbClr val="000000"/>
                </a:solidFill>
                <a:latin typeface="Inter Bold" pitchFamily="34" charset="0"/>
                <a:ea typeface="Inter Bold" pitchFamily="34" charset="-122"/>
                <a:cs typeface="Inter Bold" pitchFamily="34" charset="-120"/>
              </a:rPr>
              <a:t>In-Line AI </a:t>
            </a:r>
            <a:endParaRPr lang="ko-KR" sz="3350" dirty="0"/>
          </a:p>
          <a:p>
            <a:pPr algn="l" indent="0" marL="0">
              <a:lnSpc>
                <a:spcPct val="104000"/>
              </a:lnSpc>
              <a:buNone/>
            </a:pPr>
            <a:r>
              <a:rPr lang="ko-KR" altLang="en-US" sz="3350" b="1" dirty="0">
                <a:solidFill>
                  <a:srgbClr val="000000"/>
                </a:solidFill>
                <a:latin typeface="Inter Bold" pitchFamily="34" charset="0"/>
                <a:ea typeface="Inter Bold" pitchFamily="34" charset="-122"/>
                <a:cs typeface="Inter Bold" pitchFamily="34" charset="-120"/>
              </a:rPr>
              <a:t>글쓰기 어시스턴트</a:t>
            </a:r>
            <a:endParaRPr lang="ko-KR" sz="3350" dirty="0"/>
          </a:p>
        </p:txBody>
      </p:sp>
      <p:sp>
        <p:nvSpPr>
          <p:cNvPr id="9" name="Shape 6"/>
          <p:cNvSpPr/>
          <p:nvPr/>
        </p:nvSpPr>
        <p:spPr>
          <a:xfrm>
            <a:off x="496119" y="2917106"/>
            <a:ext cx="1943249" cy="233214"/>
          </a:xfrm>
          <a:prstGeom prst="roundRect">
            <a:avLst>
              <a:gd name="adj" fmla="val 17872"/>
            </a:avLst>
          </a:prstGeom>
          <a:noFill/>
          <a:ln/>
          <a:effectLst>
            <a:outerShdw sx="100000" sy="100000" kx="0" ky="0" algn="bl" rotWithShape="0" blurRad="101600" dist="50800" dir="16200000">
              <a:srgbClr val="4950bc">
                <a:alpha val="100000"/>
              </a:srgbClr>
            </a:outerShdw>
          </a:effectLst>
        </p:spPr>
      </p:sp>
      <p:sp>
        <p:nvSpPr>
          <p:cNvPr id="10" name="Text 7"/>
          <p:cNvSpPr/>
          <p:nvPr/>
        </p:nvSpPr>
        <p:spPr>
          <a:xfrm>
            <a:off x="570533" y="2954313"/>
            <a:ext cx="2251621" cy="158800"/>
          </a:xfrm>
          <a:prstGeom prst="rect">
            <a:avLst/>
          </a:prstGeom>
          <a:noFill/>
          <a:ln/>
        </p:spPr>
        <p:txBody>
          <a:bodyPr wrap="none" lIns="0" tIns="0" rIns="0" bIns="0" rtlCol="0" anchor="t"/>
          <a:lstStyle/>
          <a:p>
            <a:pPr algn="l" indent="0" marL="0">
              <a:lnSpc>
                <a:spcPct val="133000"/>
              </a:lnSpc>
              <a:buNone/>
            </a:pPr>
            <a:r>
              <a:rPr lang="ko-KR" altLang="en-US" sz="750" dirty="0">
                <a:solidFill>
                  <a:srgbClr val="4950BC"/>
                </a:solidFill>
                <a:latin typeface="Inter" pitchFamily="34" charset="0"/>
                <a:ea typeface="Inter" pitchFamily="34" charset="-122"/>
                <a:cs typeface="Inter" pitchFamily="34" charset="-120"/>
              </a:rPr>
              <a:t>C반 1팀  - 김가영  / 김문주 / 이가연 / 하성헌</a:t>
            </a:r>
            <a:endParaRPr lang="ko-KR" sz="750" dirty="0"/>
          </a:p>
        </p:txBody>
      </p:sp>
      <p:sp>
        <p:nvSpPr>
          <p:cNvPr id="11" name="Text 8"/>
          <p:cNvSpPr/>
          <p:nvPr/>
        </p:nvSpPr>
        <p:spPr>
          <a:xfrm>
            <a:off x="496119" y="3289846"/>
            <a:ext cx="4722763" cy="396925"/>
          </a:xfrm>
          <a:prstGeom prst="rect">
            <a:avLst/>
          </a:prstGeom>
          <a:noFill/>
          <a:ln/>
        </p:spPr>
        <p:txBody>
          <a:bodyPr wrap="square" lIns="0" tIns="0" rIns="0" bIns="0" rtlCol="0" anchor="t">
            <a:normAutofit/>
          </a:bodyPr>
          <a:lstStyle/>
          <a:p>
            <a:pPr algn="l" indent="0" marL="0">
              <a:lnSpc>
                <a:spcPct val="133000"/>
              </a:lnSpc>
              <a:buNone/>
            </a:pPr>
            <a:r>
              <a:rPr lang="ko-KR" altLang="en-US" sz="950" dirty="0">
                <a:solidFill>
                  <a:srgbClr val="272525"/>
                </a:solidFill>
                <a:latin typeface="Inter" pitchFamily="34" charset="0"/>
                <a:ea typeface="Inter" pitchFamily="34" charset="-122"/>
                <a:cs typeface="Inter" pitchFamily="34" charset="-120"/>
              </a:rPr>
              <a:t>텍스트를 선택하고 단축키 하나만 누르면, </a:t>
            </a:r>
            <a:endParaRPr lang="ko-KR" sz="950" dirty="0"/>
          </a:p>
          <a:p>
            <a:pPr algn="l" indent="0" marL="0">
              <a:lnSpc>
                <a:spcPct val="133000"/>
              </a:lnSpc>
              <a:buNone/>
            </a:pPr>
            <a:r>
              <a:rPr lang="ko-KR" altLang="en-US" sz="950" dirty="0">
                <a:solidFill>
                  <a:srgbClr val="272525"/>
                </a:solidFill>
                <a:latin typeface="Inter" pitchFamily="34" charset="0"/>
                <a:ea typeface="Inter" pitchFamily="34" charset="-122"/>
                <a:cs typeface="Inter" pitchFamily="34" charset="-120"/>
              </a:rPr>
              <a:t>어떤 앱에서든 AI가 바로 글을 고쳐주는 크로스 플랫폼 데스크탑 앱</a:t>
            </a:r>
            <a:endParaRPr lang="ko-KR" sz="950" dirty="0"/>
          </a:p>
        </p:txBody>
      </p:sp>
      <p:sp>
        <p:nvSpPr>
          <p:cNvPr id="12" name="Shape 9"/>
          <p:cNvSpPr/>
          <p:nvPr/>
        </p:nvSpPr>
        <p:spPr>
          <a:xfrm>
            <a:off x="496119" y="3965823"/>
            <a:ext cx="656779" cy="233214"/>
          </a:xfrm>
          <a:prstGeom prst="roundRect">
            <a:avLst>
              <a:gd name="adj" fmla="val 17872"/>
            </a:avLst>
          </a:prstGeom>
          <a:noFill/>
          <a:ln/>
          <a:effectLst>
            <a:outerShdw sx="100000" sy="100000" kx="0" ky="0" algn="bl" rotWithShape="0" blurRad="101600" dist="50800" dir="16200000">
              <a:srgbClr val="4950bc">
                <a:alpha val="100000"/>
              </a:srgbClr>
            </a:outerShdw>
          </a:effectLst>
        </p:spPr>
      </p:sp>
      <p:sp>
        <p:nvSpPr>
          <p:cNvPr id="13" name="Text 10"/>
          <p:cNvSpPr/>
          <p:nvPr/>
        </p:nvSpPr>
        <p:spPr>
          <a:xfrm>
            <a:off x="570533" y="4003030"/>
            <a:ext cx="965150" cy="158800"/>
          </a:xfrm>
          <a:prstGeom prst="rect">
            <a:avLst/>
          </a:prstGeom>
          <a:noFill/>
          <a:ln/>
        </p:spPr>
        <p:txBody>
          <a:bodyPr wrap="none" lIns="0" tIns="0" rIns="0" bIns="0" rtlCol="0" anchor="t"/>
          <a:lstStyle/>
          <a:p>
            <a:pPr algn="l" indent="0" marL="0">
              <a:lnSpc>
                <a:spcPct val="133000"/>
              </a:lnSpc>
              <a:buNone/>
            </a:pPr>
            <a:r>
              <a:rPr lang="en-US" sz="750" dirty="0">
                <a:solidFill>
                  <a:srgbClr val="4950BC"/>
                </a:solidFill>
                <a:latin typeface="Inter" pitchFamily="34" charset="0"/>
                <a:ea typeface="Inter" pitchFamily="34" charset="-122"/>
                <a:cs typeface="Inter" pitchFamily="34" charset="-120"/>
              </a:rPr>
              <a:t>WINDOWS</a:t>
            </a:r>
            <a:endParaRPr lang="en-US" sz="750" dirty="0"/>
          </a:p>
        </p:txBody>
      </p:sp>
      <p:sp>
        <p:nvSpPr>
          <p:cNvPr id="14" name="Shape 11"/>
          <p:cNvSpPr/>
          <p:nvPr/>
        </p:nvSpPr>
        <p:spPr>
          <a:xfrm>
            <a:off x="1214884" y="3965823"/>
            <a:ext cx="515466" cy="233214"/>
          </a:xfrm>
          <a:prstGeom prst="roundRect">
            <a:avLst>
              <a:gd name="adj" fmla="val 17872"/>
            </a:avLst>
          </a:prstGeom>
          <a:noFill/>
          <a:ln/>
          <a:effectLst>
            <a:outerShdw sx="100000" sy="100000" kx="0" ky="0" algn="bl" rotWithShape="0" blurRad="101600" dist="50800" dir="16200000">
              <a:srgbClr val="4950bc">
                <a:alpha val="100000"/>
              </a:srgbClr>
            </a:outerShdw>
          </a:effectLst>
        </p:spPr>
      </p:sp>
      <p:sp>
        <p:nvSpPr>
          <p:cNvPr id="15" name="Text 12"/>
          <p:cNvSpPr/>
          <p:nvPr/>
        </p:nvSpPr>
        <p:spPr>
          <a:xfrm>
            <a:off x="1289298" y="4003030"/>
            <a:ext cx="823838" cy="158800"/>
          </a:xfrm>
          <a:prstGeom prst="rect">
            <a:avLst/>
          </a:prstGeom>
          <a:noFill/>
          <a:ln/>
        </p:spPr>
        <p:txBody>
          <a:bodyPr wrap="none" lIns="0" tIns="0" rIns="0" bIns="0" rtlCol="0" anchor="t"/>
          <a:lstStyle/>
          <a:p>
            <a:pPr algn="l" indent="0" marL="0">
              <a:lnSpc>
                <a:spcPct val="133000"/>
              </a:lnSpc>
              <a:buNone/>
            </a:pPr>
            <a:r>
              <a:rPr lang="en-US" sz="750" dirty="0">
                <a:solidFill>
                  <a:srgbClr val="4950BC"/>
                </a:solidFill>
                <a:latin typeface="Inter" pitchFamily="34" charset="0"/>
                <a:ea typeface="Inter" pitchFamily="34" charset="-122"/>
                <a:cs typeface="Inter" pitchFamily="34" charset="-120"/>
              </a:rPr>
              <a:t>MACOS</a:t>
            </a:r>
            <a:endParaRPr lang="en-US" sz="750" dirty="0"/>
          </a:p>
        </p:txBody>
      </p:sp>
      <p:sp>
        <p:nvSpPr>
          <p:cNvPr id="16" name="Shape 13"/>
          <p:cNvSpPr/>
          <p:nvPr/>
        </p:nvSpPr>
        <p:spPr>
          <a:xfrm>
            <a:off x="1792337" y="3965823"/>
            <a:ext cx="447824" cy="233214"/>
          </a:xfrm>
          <a:prstGeom prst="roundRect">
            <a:avLst>
              <a:gd name="adj" fmla="val 17872"/>
            </a:avLst>
          </a:prstGeom>
          <a:noFill/>
          <a:ln/>
          <a:effectLst>
            <a:outerShdw sx="100000" sy="100000" kx="0" ky="0" algn="bl" rotWithShape="0" blurRad="101600" dist="50800" dir="16200000">
              <a:srgbClr val="4950bc">
                <a:alpha val="100000"/>
              </a:srgbClr>
            </a:outerShdw>
          </a:effectLst>
        </p:spPr>
      </p:sp>
      <p:sp>
        <p:nvSpPr>
          <p:cNvPr id="17" name="Text 14"/>
          <p:cNvSpPr/>
          <p:nvPr/>
        </p:nvSpPr>
        <p:spPr>
          <a:xfrm>
            <a:off x="1866751" y="4003030"/>
            <a:ext cx="756196" cy="158800"/>
          </a:xfrm>
          <a:prstGeom prst="rect">
            <a:avLst/>
          </a:prstGeom>
          <a:noFill/>
          <a:ln/>
        </p:spPr>
        <p:txBody>
          <a:bodyPr wrap="none" lIns="0" tIns="0" rIns="0" bIns="0" rtlCol="0" anchor="t"/>
          <a:lstStyle/>
          <a:p>
            <a:pPr algn="l" indent="0" marL="0">
              <a:lnSpc>
                <a:spcPct val="133000"/>
              </a:lnSpc>
              <a:buNone/>
            </a:pPr>
            <a:r>
              <a:rPr lang="en-US" sz="750" dirty="0">
                <a:solidFill>
                  <a:srgbClr val="4950BC"/>
                </a:solidFill>
                <a:latin typeface="Inter" pitchFamily="34" charset="0"/>
                <a:ea typeface="Inter" pitchFamily="34" charset="-122"/>
                <a:cs typeface="Inter" pitchFamily="34" charset="-120"/>
              </a:rPr>
              <a:t>LINUX</a:t>
            </a:r>
            <a:endParaRPr lang="en-US" sz="750" dirty="0"/>
          </a:p>
        </p:txBody>
      </p:sp>
      <p:sp>
        <p:nvSpPr>
          <p:cNvPr id="18" name="Text 15"/>
          <p:cNvSpPr/>
          <p:nvPr/>
        </p:nvSpPr>
        <p:spPr>
          <a:xfrm>
            <a:off x="3013546" y="3937918"/>
            <a:ext cx="2667298" cy="198462"/>
          </a:xfrm>
          <a:prstGeom prst="rect">
            <a:avLst/>
          </a:prstGeom>
          <a:noFill/>
          <a:ln/>
        </p:spPr>
        <p:txBody>
          <a:bodyPr wrap="none" lIns="0" tIns="0" rIns="0" bIns="0" rtlCol="0" anchor="t"/>
          <a:lstStyle/>
          <a:p>
            <a:pPr algn="l" indent="0" marL="0">
              <a:lnSpc>
                <a:spcPct val="133000"/>
              </a:lnSpc>
              <a:buNone/>
            </a:pP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496119" y="608781"/>
            <a:ext cx="518666" cy="233214"/>
          </a:xfrm>
          <a:prstGeom prst="roundRect">
            <a:avLst>
              <a:gd name="adj" fmla="val 17872"/>
            </a:avLst>
          </a:prstGeom>
          <a:solidFill>
            <a:srgbClr val="DADBF1"/>
          </a:solidFill>
          <a:ln/>
        </p:spPr>
      </p:sp>
      <p:sp>
        <p:nvSpPr>
          <p:cNvPr id="3" name="Text 1"/>
          <p:cNvSpPr/>
          <p:nvPr/>
        </p:nvSpPr>
        <p:spPr>
          <a:xfrm>
            <a:off x="570533" y="645988"/>
            <a:ext cx="827038" cy="158800"/>
          </a:xfrm>
          <a:prstGeom prst="rect">
            <a:avLst/>
          </a:prstGeom>
          <a:noFill/>
          <a:ln/>
        </p:spPr>
        <p:txBody>
          <a:bodyPr wrap="none" lIns="0" tIns="0" rIns="0" bIns="0" rtlCol="0" anchor="t"/>
          <a:lstStyle/>
          <a:p>
            <a:pPr algn="l" indent="0" marL="0">
              <a:lnSpc>
                <a:spcPct val="133000"/>
              </a:lnSpc>
              <a:buNone/>
            </a:pPr>
            <a:r>
              <a:rPr lang="ko-KR" altLang="en-US" sz="750" dirty="0">
                <a:solidFill>
                  <a:srgbClr val="272525"/>
                </a:solidFill>
                <a:latin typeface="Inter" pitchFamily="34" charset="0"/>
                <a:ea typeface="Inter" pitchFamily="34" charset="-122"/>
                <a:cs typeface="Inter" pitchFamily="34" charset="-120"/>
              </a:rPr>
              <a:t>01 · 목적</a:t>
            </a:r>
            <a:endParaRPr lang="ko-KR" sz="750" dirty="0"/>
          </a:p>
        </p:txBody>
      </p:sp>
      <p:sp>
        <p:nvSpPr>
          <p:cNvPr id="4" name="Text 2"/>
          <p:cNvSpPr/>
          <p:nvPr/>
        </p:nvSpPr>
        <p:spPr>
          <a:xfrm>
            <a:off x="496119" y="891555"/>
            <a:ext cx="3648745" cy="387548"/>
          </a:xfrm>
          <a:prstGeom prst="rect">
            <a:avLst/>
          </a:prstGeom>
          <a:noFill/>
          <a:ln/>
        </p:spPr>
        <p:txBody>
          <a:bodyPr wrap="none" lIns="0" tIns="0" rIns="0" bIns="0" rtlCol="0" anchor="t"/>
          <a:lstStyle/>
          <a:p>
            <a:pPr algn="l" indent="0" marL="0">
              <a:lnSpc>
                <a:spcPct val="104000"/>
              </a:lnSpc>
              <a:buNone/>
            </a:pPr>
            <a:r>
              <a:rPr lang="ko-KR" altLang="en-US" sz="2400" b="1" dirty="0">
                <a:solidFill>
                  <a:srgbClr val="000000"/>
                </a:solidFill>
                <a:latin typeface="Inter Bold" pitchFamily="34" charset="0"/>
                <a:ea typeface="Inter Bold" pitchFamily="34" charset="-122"/>
                <a:cs typeface="Inter Bold" pitchFamily="34" charset="-120"/>
              </a:rPr>
              <a:t>왜 Dadumi가 필요한가?</a:t>
            </a:r>
            <a:endParaRPr lang="ko-KR" sz="2400" dirty="0"/>
          </a:p>
        </p:txBody>
      </p:sp>
      <p:sp>
        <p:nvSpPr>
          <p:cNvPr id="5" name="Text 3"/>
          <p:cNvSpPr/>
          <p:nvPr/>
        </p:nvSpPr>
        <p:spPr>
          <a:xfrm>
            <a:off x="496119" y="1465138"/>
            <a:ext cx="8151763" cy="396925"/>
          </a:xfrm>
          <a:prstGeom prst="rect">
            <a:avLst/>
          </a:prstGeom>
          <a:noFill/>
          <a:ln/>
        </p:spPr>
        <p:txBody>
          <a:bodyPr wrap="square" lIns="0" tIns="0" rIns="0" bIns="0" rtlCol="0" anchor="t">
            <a:normAutofit/>
          </a:bodyPr>
          <a:lstStyle/>
          <a:p>
            <a:pPr algn="l" indent="0" marL="0">
              <a:lnSpc>
                <a:spcPct val="133000"/>
              </a:lnSpc>
              <a:buNone/>
            </a:pPr>
            <a:r>
              <a:rPr lang="ko-KR" altLang="en-US" sz="950" dirty="0">
                <a:solidFill>
                  <a:srgbClr val="272525"/>
                </a:solidFill>
                <a:latin typeface="Inter" pitchFamily="34" charset="0"/>
                <a:ea typeface="Inter" pitchFamily="34" charset="-122"/>
                <a:cs typeface="Inter" pitchFamily="34" charset="-120"/>
              </a:rPr>
              <a:t>현재 AI 글쓰기 도구를 사용하려면 매번 </a:t>
            </a:r>
            <a:pPr algn="l" indent="0" marL="0">
              <a:lnSpc>
                <a:spcPct val="133000"/>
              </a:lnSpc>
              <a:buNone/>
            </a:pPr>
            <a:r>
              <a:rPr lang="ko-KR" altLang="en-US" sz="950" b="1" dirty="0">
                <a:solidFill>
                  <a:srgbClr val="272525"/>
                </a:solidFill>
                <a:latin typeface="Inter Bold" pitchFamily="34" charset="0"/>
                <a:ea typeface="Inter Bold" pitchFamily="34" charset="-122"/>
                <a:cs typeface="Inter Bold" pitchFamily="34" charset="-120"/>
              </a:rPr>
              <a:t>텍스트 복사 → AI 앱·웹으로 이동 → 결과 복사 → 원래 앱에 붙여넣기</a:t>
            </a:r>
            <a:pPr algn="l" indent="0" marL="0">
              <a:lnSpc>
                <a:spcPct val="133000"/>
              </a:lnSpc>
              <a:buNone/>
            </a:pPr>
            <a:r>
              <a:rPr lang="ko-KR" altLang="en-US" sz="950" dirty="0">
                <a:solidFill>
                  <a:srgbClr val="272525"/>
                </a:solidFill>
                <a:latin typeface="Inter" pitchFamily="34" charset="0"/>
                <a:ea typeface="Inter" pitchFamily="34" charset="-122"/>
                <a:cs typeface="Inter" pitchFamily="34" charset="-120"/>
              </a:rPr>
              <a:t> 과정을 반복해야 합니다. Slack, Notion, Word, 메모장 등 앱마다 이 과정을 거쳐야 하므로 작업 흐름이 반복적으로 끊기며, 특정 AI 서비스 하나에 구독·종속될 수밖에 없는 구조적 문제가 존재합니다.</a:t>
            </a:r>
            <a:endParaRPr lang="ko-KR" sz="950" dirty="0"/>
          </a:p>
        </p:txBody>
      </p:sp>
      <p:sp>
        <p:nvSpPr>
          <p:cNvPr id="6" name="Text 4"/>
          <p:cNvSpPr/>
          <p:nvPr/>
        </p:nvSpPr>
        <p:spPr>
          <a:xfrm>
            <a:off x="496119" y="2125563"/>
            <a:ext cx="2007766" cy="198611"/>
          </a:xfrm>
          <a:prstGeom prst="rect">
            <a:avLst/>
          </a:prstGeom>
          <a:noFill/>
          <a:ln/>
        </p:spPr>
        <p:txBody>
          <a:bodyPr wrap="none" lIns="0" tIns="0" rIns="0" bIns="0" rtlCol="0" anchor="t"/>
          <a:lstStyle/>
          <a:p>
            <a:pPr algn="l" indent="0" marL="0">
              <a:lnSpc>
                <a:spcPct val="104000"/>
              </a:lnSpc>
              <a:buNone/>
            </a:pPr>
            <a:r>
              <a:rPr lang="ko-KR" altLang="en-US" sz="1200" b="1"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ko-KR" altLang="en-US" sz="1200" b="1" dirty="0">
                <a:solidFill>
                  <a:srgbClr val="000000"/>
                </a:solidFill>
                <a:latin typeface="Inter Bold" pitchFamily="34" charset="0"/>
                <a:ea typeface="Inter Bold" pitchFamily="34" charset="-122"/>
                <a:cs typeface="Inter Bold" pitchFamily="34" charset="-120"/>
              </a:rPr>
              <a:t> 기존 방식 (Before)</a:t>
            </a:r>
            <a:endParaRPr lang="ko-KR" sz="1200" dirty="0"/>
          </a:p>
        </p:txBody>
      </p:sp>
      <p:sp>
        <p:nvSpPr>
          <p:cNvPr id="7" name="Text 5"/>
          <p:cNvSpPr/>
          <p:nvPr/>
        </p:nvSpPr>
        <p:spPr>
          <a:xfrm>
            <a:off x="496119" y="2448148"/>
            <a:ext cx="3924598" cy="1407691"/>
          </a:xfrm>
          <a:prstGeom prst="rect">
            <a:avLst/>
          </a:prstGeom>
          <a:noFill/>
          <a:ln/>
        </p:spPr>
        <p:txBody>
          <a:bodyPr wrap="square" lIns="0" tIns="0" rIns="0" bIns="0" rtlCol="0" anchor="t">
            <a:normAutofit/>
          </a:bodyPr>
          <a:lstStyle/>
          <a:p>
            <a:pPr algn="l" marL="193040" indent="-193040">
              <a:lnSpc>
                <a:spcPct val="133000"/>
              </a:lnSpc>
              <a:buSzPct val="100000"/>
              <a:buChar char="•"/>
            </a:pPr>
            <a:r>
              <a:rPr lang="ko-KR" altLang="en-US" sz="950" dirty="0">
                <a:solidFill>
                  <a:srgbClr val="272525"/>
                </a:solidFill>
                <a:latin typeface="Inter" pitchFamily="34" charset="0"/>
                <a:ea typeface="Inter" pitchFamily="34" charset="-122"/>
                <a:cs typeface="Inter" pitchFamily="34" charset="-120"/>
              </a:rPr>
              <a:t>텍스트 선택 후 수동 복사</a:t>
            </a:r>
            <a:endParaRPr lang="ko-KR" sz="950" dirty="0"/>
          </a:p>
          <a:p>
            <a:pPr algn="l" marL="193040" indent="-193040">
              <a:lnSpc>
                <a:spcPct val="133000"/>
              </a:lnSpc>
              <a:buSzPct val="100000"/>
              <a:buChar char="•"/>
            </a:pPr>
            <a:r>
              <a:rPr lang="ko-KR" altLang="en-US" sz="950" dirty="0">
                <a:solidFill>
                  <a:srgbClr val="272525"/>
                </a:solidFill>
                <a:latin typeface="Inter" pitchFamily="34" charset="0"/>
                <a:ea typeface="Inter" pitchFamily="34" charset="-122"/>
                <a:cs typeface="Inter" pitchFamily="34" charset="-120"/>
              </a:rPr>
              <a:t>AI 앱·웹으로 전환</a:t>
            </a:r>
            <a:endParaRPr lang="ko-KR" sz="950" dirty="0"/>
          </a:p>
          <a:p>
            <a:pPr algn="l" marL="193040" indent="-193040">
              <a:lnSpc>
                <a:spcPct val="133000"/>
              </a:lnSpc>
              <a:buSzPct val="100000"/>
              <a:buChar char="•"/>
            </a:pPr>
            <a:r>
              <a:rPr lang="ko-KR" altLang="en-US" sz="950" dirty="0">
                <a:solidFill>
                  <a:srgbClr val="272525"/>
                </a:solidFill>
                <a:latin typeface="Inter" pitchFamily="34" charset="0"/>
                <a:ea typeface="Inter" pitchFamily="34" charset="-122"/>
                <a:cs typeface="Inter" pitchFamily="34" charset="-120"/>
              </a:rPr>
              <a:t>프롬프트 입력 후 결과 대기</a:t>
            </a:r>
            <a:endParaRPr lang="ko-KR" sz="950" dirty="0"/>
          </a:p>
          <a:p>
            <a:pPr algn="l" marL="193040" indent="-193040">
              <a:lnSpc>
                <a:spcPct val="133000"/>
              </a:lnSpc>
              <a:buSzPct val="100000"/>
              <a:buChar char="•"/>
            </a:pPr>
            <a:r>
              <a:rPr lang="ko-KR" altLang="en-US" sz="950" dirty="0">
                <a:solidFill>
                  <a:srgbClr val="272525"/>
                </a:solidFill>
                <a:latin typeface="Inter" pitchFamily="34" charset="0"/>
                <a:ea typeface="Inter" pitchFamily="34" charset="-122"/>
                <a:cs typeface="Inter" pitchFamily="34" charset="-120"/>
              </a:rPr>
              <a:t>결과 수동 복사</a:t>
            </a:r>
            <a:endParaRPr lang="ko-KR" sz="950" dirty="0"/>
          </a:p>
          <a:p>
            <a:pPr algn="l" marL="193040" indent="-193040">
              <a:lnSpc>
                <a:spcPct val="133000"/>
              </a:lnSpc>
              <a:buSzPct val="100000"/>
              <a:buChar char="•"/>
            </a:pPr>
            <a:r>
              <a:rPr lang="ko-KR" altLang="en-US" sz="950" dirty="0">
                <a:solidFill>
                  <a:srgbClr val="272525"/>
                </a:solidFill>
                <a:latin typeface="Inter" pitchFamily="34" charset="0"/>
                <a:ea typeface="Inter" pitchFamily="34" charset="-122"/>
                <a:cs typeface="Inter" pitchFamily="34" charset="-120"/>
              </a:rPr>
              <a:t>원래 앱으로 복귀 후 붙여넣기</a:t>
            </a:r>
            <a:endParaRPr lang="ko-KR" sz="950" dirty="0"/>
          </a:p>
          <a:p>
            <a:pPr algn="l" marL="193040" indent="-193040">
              <a:lnSpc>
                <a:spcPct val="133000"/>
              </a:lnSpc>
              <a:buSzPct val="100000"/>
              <a:buChar char="•"/>
            </a:pPr>
            <a:r>
              <a:rPr lang="ko-KR" altLang="en-US" sz="950" dirty="0">
                <a:solidFill>
                  <a:srgbClr val="272525"/>
                </a:solidFill>
                <a:latin typeface="Inter" pitchFamily="34" charset="0"/>
                <a:ea typeface="Inter" pitchFamily="34" charset="-122"/>
                <a:cs typeface="Inter" pitchFamily="34" charset="-120"/>
              </a:rPr>
              <a:t>앱마다 반복 → 작업 흐름 단절</a:t>
            </a:r>
            <a:endParaRPr lang="ko-KR" sz="950" dirty="0"/>
          </a:p>
        </p:txBody>
      </p:sp>
      <p:sp>
        <p:nvSpPr>
          <p:cNvPr id="8" name="Text 6"/>
          <p:cNvSpPr/>
          <p:nvPr/>
        </p:nvSpPr>
        <p:spPr>
          <a:xfrm>
            <a:off x="4728046" y="2125563"/>
            <a:ext cx="2122661" cy="198611"/>
          </a:xfrm>
          <a:prstGeom prst="rect">
            <a:avLst/>
          </a:prstGeom>
          <a:noFill/>
          <a:ln/>
        </p:spPr>
        <p:txBody>
          <a:bodyPr wrap="none" lIns="0" tIns="0" rIns="0" bIns="0" rtlCol="0" anchor="t"/>
          <a:lstStyle/>
          <a:p>
            <a:pPr algn="l" indent="0" marL="0">
              <a:lnSpc>
                <a:spcPct val="104000"/>
              </a:lnSpc>
              <a:buNone/>
            </a:pPr>
            <a:r>
              <a:rPr lang="ko-KR" altLang="en-US" sz="1200" b="1"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ko-KR" altLang="en-US" sz="1200" b="1" dirty="0">
                <a:solidFill>
                  <a:srgbClr val="000000"/>
                </a:solidFill>
                <a:latin typeface="Inter Bold" pitchFamily="34" charset="0"/>
                <a:ea typeface="Inter Bold" pitchFamily="34" charset="-122"/>
                <a:cs typeface="Inter Bold" pitchFamily="34" charset="-120"/>
              </a:rPr>
              <a:t> Dadumi 방식 (After)</a:t>
            </a:r>
            <a:endParaRPr lang="ko-KR" sz="1200" dirty="0"/>
          </a:p>
        </p:txBody>
      </p:sp>
      <p:sp>
        <p:nvSpPr>
          <p:cNvPr id="9" name="Text 7"/>
          <p:cNvSpPr/>
          <p:nvPr/>
        </p:nvSpPr>
        <p:spPr>
          <a:xfrm>
            <a:off x="4728046" y="2448148"/>
            <a:ext cx="3924598" cy="1407691"/>
          </a:xfrm>
          <a:prstGeom prst="rect">
            <a:avLst/>
          </a:prstGeom>
          <a:noFill/>
          <a:ln/>
        </p:spPr>
        <p:txBody>
          <a:bodyPr wrap="square" lIns="0" tIns="0" rIns="0" bIns="0" rtlCol="0" anchor="t">
            <a:normAutofit/>
          </a:bodyPr>
          <a:lstStyle/>
          <a:p>
            <a:pPr algn="l" marL="193040" indent="-193040">
              <a:lnSpc>
                <a:spcPct val="133000"/>
              </a:lnSpc>
              <a:buSzPct val="100000"/>
              <a:buChar char="•"/>
            </a:pPr>
            <a:r>
              <a:rPr lang="ko-KR" altLang="en-US" sz="950" dirty="0">
                <a:solidFill>
                  <a:srgbClr val="272525"/>
                </a:solidFill>
                <a:latin typeface="Inter" pitchFamily="34" charset="0"/>
                <a:ea typeface="Inter" pitchFamily="34" charset="-122"/>
                <a:cs typeface="Inter" pitchFamily="34" charset="-120"/>
              </a:rPr>
              <a:t>텍스트 선택</a:t>
            </a:r>
            <a:endParaRPr lang="ko-KR" sz="950" dirty="0"/>
          </a:p>
          <a:p>
            <a:pPr algn="l" marL="193040" indent="-193040">
              <a:lnSpc>
                <a:spcPct val="133000"/>
              </a:lnSpc>
              <a:buSzPct val="100000"/>
              <a:buChar char="•"/>
            </a:pPr>
            <a:r>
              <a:rPr lang="ko-KR" altLang="en-US" sz="950" dirty="0">
                <a:solidFill>
                  <a:srgbClr val="272525"/>
                </a:solidFill>
                <a:latin typeface="Inter" pitchFamily="34" charset="0"/>
                <a:ea typeface="Inter" pitchFamily="34" charset="-122"/>
                <a:cs typeface="Inter" pitchFamily="34" charset="-120"/>
              </a:rPr>
              <a:t>단축키 1회 입력 (Option+Space / Alt+Space)</a:t>
            </a:r>
            <a:endParaRPr lang="ko-KR" sz="950" dirty="0"/>
          </a:p>
          <a:p>
            <a:pPr algn="l" marL="193040" indent="-193040">
              <a:lnSpc>
                <a:spcPct val="133000"/>
              </a:lnSpc>
              <a:buSzPct val="100000"/>
              <a:buChar char="•"/>
            </a:pPr>
            <a:r>
              <a:rPr lang="ko-KR" altLang="en-US" sz="950" dirty="0">
                <a:solidFill>
                  <a:srgbClr val="272525"/>
                </a:solidFill>
                <a:latin typeface="Inter" pitchFamily="34" charset="0"/>
                <a:ea typeface="Inter" pitchFamily="34" charset="-122"/>
                <a:cs typeface="Inter" pitchFamily="34" charset="-120"/>
              </a:rPr>
              <a:t>플로팅 메뉴에서 프리셋 또는 자유 프롬프트 선택</a:t>
            </a:r>
            <a:endParaRPr lang="ko-KR" sz="950" dirty="0"/>
          </a:p>
          <a:p>
            <a:pPr algn="l" marL="193040" indent="-193040">
              <a:lnSpc>
                <a:spcPct val="133000"/>
              </a:lnSpc>
              <a:buSzPct val="100000"/>
              <a:buChar char="•"/>
            </a:pPr>
            <a:r>
              <a:rPr lang="ko-KR" altLang="en-US" sz="950" dirty="0">
                <a:solidFill>
                  <a:srgbClr val="272525"/>
                </a:solidFill>
                <a:latin typeface="Inter" pitchFamily="34" charset="0"/>
                <a:ea typeface="Inter" pitchFamily="34" charset="-122"/>
                <a:cs typeface="Inter" pitchFamily="34" charset="-120"/>
              </a:rPr>
              <a:t>AI 결과가 원래 위치에 자동 삽입</a:t>
            </a:r>
            <a:endParaRPr lang="ko-KR" sz="950" dirty="0"/>
          </a:p>
          <a:p>
            <a:pPr algn="l" marL="193040" indent="-193040">
              <a:lnSpc>
                <a:spcPct val="133000"/>
              </a:lnSpc>
              <a:buSzPct val="100000"/>
              <a:buChar char="•"/>
            </a:pPr>
            <a:r>
              <a:rPr lang="ko-KR" altLang="en-US" sz="950" dirty="0">
                <a:solidFill>
                  <a:srgbClr val="272525"/>
                </a:solidFill>
                <a:latin typeface="Inter" pitchFamily="34" charset="0"/>
                <a:ea typeface="Inter" pitchFamily="34" charset="-122"/>
                <a:cs typeface="Inter" pitchFamily="34" charset="-120"/>
              </a:rPr>
              <a:t>앱 전환·복사·붙여넣기 완전 제거</a:t>
            </a:r>
            <a:endParaRPr lang="ko-KR" sz="950" dirty="0"/>
          </a:p>
          <a:p>
            <a:pPr algn="l" marL="193040" indent="-193040">
              <a:lnSpc>
                <a:spcPct val="133000"/>
              </a:lnSpc>
              <a:buSzPct val="100000"/>
              <a:buChar char="•"/>
            </a:pPr>
            <a:r>
              <a:rPr lang="ko-KR" altLang="en-US" sz="950" dirty="0">
                <a:solidFill>
                  <a:srgbClr val="272525"/>
                </a:solidFill>
                <a:latin typeface="Inter" pitchFamily="34" charset="0"/>
                <a:ea typeface="Inter" pitchFamily="34" charset="-122"/>
                <a:cs typeface="Inter" pitchFamily="34" charset="-120"/>
              </a:rPr>
              <a:t>작업 흐름 유지, 생산성 극대화</a:t>
            </a:r>
            <a:endParaRPr lang="ko-KR" sz="950" dirty="0"/>
          </a:p>
        </p:txBody>
      </p:sp>
      <p:sp>
        <p:nvSpPr>
          <p:cNvPr id="10" name="Shape 8"/>
          <p:cNvSpPr/>
          <p:nvPr/>
        </p:nvSpPr>
        <p:spPr>
          <a:xfrm>
            <a:off x="496119" y="4038749"/>
            <a:ext cx="8151763" cy="495970"/>
          </a:xfrm>
          <a:prstGeom prst="roundRect">
            <a:avLst>
              <a:gd name="adj" fmla="val 10505"/>
            </a:avLst>
          </a:prstGeom>
          <a:solidFill>
            <a:srgbClr val="DADBF1"/>
          </a:solidFill>
          <a:ln/>
        </p:spPr>
      </p:sp>
      <p:pic>
        <p:nvPicPr>
          <p:cNvPr id="11" name="Image 0" descr="preencoded.png">    </p:cNvPr>
          <p:cNvPicPr>
            <a:picLocks noChangeAspect="1"/>
          </p:cNvPicPr>
          <p:nvPr/>
        </p:nvPicPr>
        <p:blipFill>
          <a:blip r:embed="rId1"/>
          <a:stretch>
            <a:fillRect/>
          </a:stretch>
        </p:blipFill>
        <p:spPr>
          <a:xfrm>
            <a:off x="620092" y="4218533"/>
            <a:ext cx="155004" cy="123974"/>
          </a:xfrm>
          <a:prstGeom prst="rect">
            <a:avLst/>
          </a:prstGeom>
        </p:spPr>
      </p:pic>
      <p:sp>
        <p:nvSpPr>
          <p:cNvPr id="12" name="Text 9"/>
          <p:cNvSpPr/>
          <p:nvPr/>
        </p:nvSpPr>
        <p:spPr>
          <a:xfrm>
            <a:off x="899071" y="4193679"/>
            <a:ext cx="8082037" cy="198462"/>
          </a:xfrm>
          <a:prstGeom prst="rect">
            <a:avLst/>
          </a:prstGeom>
          <a:noFill/>
          <a:ln/>
        </p:spPr>
        <p:txBody>
          <a:bodyPr wrap="none" lIns="0" tIns="0" rIns="0" bIns="0" rtlCol="0" anchor="t"/>
          <a:lstStyle/>
          <a:p>
            <a:pPr algn="l" indent="0" marL="0">
              <a:lnSpc>
                <a:spcPct val="133000"/>
              </a:lnSpc>
              <a:buNone/>
            </a:pPr>
            <a:r>
              <a:rPr lang="ko-KR" altLang="en-US" sz="950" b="1" dirty="0">
                <a:solidFill>
                  <a:srgbClr val="000000"/>
                </a:solidFill>
                <a:latin typeface="Inter Bold" pitchFamily="34" charset="0"/>
                <a:ea typeface="Inter Bold" pitchFamily="34" charset="-122"/>
                <a:cs typeface="Inter Bold" pitchFamily="34" charset="-120"/>
              </a:rPr>
              <a:t>핵심 목표:</a:t>
            </a:r>
            <a:pPr algn="l" indent="0" marL="0">
              <a:lnSpc>
                <a:spcPct val="133000"/>
              </a:lnSpc>
              <a:buNone/>
            </a:pPr>
            <a:r>
              <a:rPr lang="ko-KR" altLang="en-US" sz="950" dirty="0">
                <a:solidFill>
                  <a:srgbClr val="000000"/>
                </a:solidFill>
                <a:latin typeface="Inter" pitchFamily="34" charset="0"/>
                <a:ea typeface="Inter" pitchFamily="34" charset="-122"/>
                <a:cs typeface="Inter" pitchFamily="34" charset="-120"/>
              </a:rPr>
              <a:t> 수동 복사-붙여넣기 과정을 완전히 제거하여, 어떤 앱에서든 AI 글쓰기를 자연스럽게 통합하는 것</a:t>
            </a:r>
            <a:endParaRPr lang="ko-KR"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496119" y="353913"/>
            <a:ext cx="382712" cy="103956"/>
          </a:xfrm>
          <a:prstGeom prst="roundRect">
            <a:avLst>
              <a:gd name="adj" fmla="val 21300"/>
            </a:avLst>
          </a:prstGeom>
          <a:solidFill>
            <a:srgbClr val="DADBF1"/>
          </a:solidFill>
          <a:ln/>
        </p:spPr>
      </p:sp>
      <p:sp>
        <p:nvSpPr>
          <p:cNvPr id="3" name="Text 1"/>
          <p:cNvSpPr/>
          <p:nvPr/>
        </p:nvSpPr>
        <p:spPr>
          <a:xfrm>
            <a:off x="535632" y="373633"/>
            <a:ext cx="760884" cy="64517"/>
          </a:xfrm>
          <a:prstGeom prst="rect">
            <a:avLst/>
          </a:prstGeom>
          <a:noFill/>
          <a:ln/>
        </p:spPr>
        <p:txBody>
          <a:bodyPr wrap="none" lIns="0" tIns="0" rIns="0" bIns="0" rtlCol="0" anchor="t"/>
          <a:lstStyle/>
          <a:p>
            <a:pPr algn="l" indent="0" marL="0">
              <a:lnSpc>
                <a:spcPct val="102000"/>
              </a:lnSpc>
              <a:buNone/>
            </a:pPr>
            <a:r>
              <a:rPr lang="ko-KR" altLang="en-US" sz="400" dirty="0">
                <a:solidFill>
                  <a:srgbClr val="272525"/>
                </a:solidFill>
                <a:latin typeface="Inter" pitchFamily="34" charset="0"/>
                <a:ea typeface="Inter" pitchFamily="34" charset="-122"/>
                <a:cs typeface="Inter" pitchFamily="34" charset="-120"/>
              </a:rPr>
              <a:t>02 · 아키텍처</a:t>
            </a:r>
            <a:endParaRPr lang="ko-KR" sz="400" dirty="0"/>
          </a:p>
        </p:txBody>
      </p:sp>
      <p:sp>
        <p:nvSpPr>
          <p:cNvPr id="4" name="Text 2"/>
          <p:cNvSpPr/>
          <p:nvPr/>
        </p:nvSpPr>
        <p:spPr>
          <a:xfrm>
            <a:off x="496119" y="471860"/>
            <a:ext cx="2104653" cy="205904"/>
          </a:xfrm>
          <a:prstGeom prst="rect">
            <a:avLst/>
          </a:prstGeom>
          <a:noFill/>
          <a:ln/>
        </p:spPr>
        <p:txBody>
          <a:bodyPr wrap="none" lIns="0" tIns="0" rIns="0" bIns="0" rtlCol="0" anchor="t"/>
          <a:lstStyle/>
          <a:p>
            <a:pPr algn="l" indent="0" marL="0">
              <a:lnSpc>
                <a:spcPct val="104000"/>
              </a:lnSpc>
              <a:buNone/>
            </a:pPr>
            <a:r>
              <a:rPr lang="ko-KR" altLang="en-US" sz="1250" b="1" dirty="0">
                <a:solidFill>
                  <a:srgbClr val="000000"/>
                </a:solidFill>
                <a:latin typeface="Inter Bold" pitchFamily="34" charset="0"/>
                <a:ea typeface="Inter Bold" pitchFamily="34" charset="-122"/>
                <a:cs typeface="Inter Bold" pitchFamily="34" charset="-120"/>
              </a:rPr>
              <a:t>시스템 아키텍처 개요</a:t>
            </a:r>
            <a:endParaRPr lang="ko-KR" sz="1250" dirty="0"/>
          </a:p>
        </p:txBody>
      </p:sp>
      <p:sp>
        <p:nvSpPr>
          <p:cNvPr id="5" name="Text 3"/>
          <p:cNvSpPr/>
          <p:nvPr/>
        </p:nvSpPr>
        <p:spPr>
          <a:xfrm>
            <a:off x="496119" y="730225"/>
            <a:ext cx="8151763" cy="242218"/>
          </a:xfrm>
          <a:prstGeom prst="rect">
            <a:avLst/>
          </a:prstGeom>
          <a:noFill/>
          <a:ln/>
        </p:spPr>
        <p:txBody>
          <a:bodyPr wrap="square" lIns="0" tIns="0" rIns="0" bIns="0" rtlCol="0" anchor="t">
            <a:normAutofit/>
          </a:bodyPr>
          <a:lstStyle/>
          <a:p>
            <a:pPr algn="l" indent="0" marL="0">
              <a:lnSpc>
                <a:spcPct val="102000"/>
              </a:lnSpc>
              <a:buNone/>
            </a:pPr>
            <a:r>
              <a:rPr lang="ko-KR" altLang="en-US" sz="500" dirty="0">
                <a:solidFill>
                  <a:srgbClr val="272525"/>
                </a:solidFill>
                <a:latin typeface="Inter" pitchFamily="34" charset="0"/>
                <a:ea typeface="Inter" pitchFamily="34" charset="-122"/>
                <a:cs typeface="Inter" pitchFamily="34" charset="-120"/>
              </a:rPr>
              <a:t>Dadumi는 </a:t>
            </a:r>
            <a:pPr algn="l" indent="0" marL="0">
              <a:lnSpc>
                <a:spcPct val="102000"/>
              </a:lnSpc>
              <a:buNone/>
            </a:pPr>
            <a:r>
              <a:rPr lang="ko-KR" altLang="en-US" sz="500" b="1" dirty="0">
                <a:solidFill>
                  <a:srgbClr val="272525"/>
                </a:solidFill>
                <a:latin typeface="Inter Bold" pitchFamily="34" charset="0"/>
                <a:ea typeface="Inter Bold" pitchFamily="34" charset="-122"/>
                <a:cs typeface="Inter Bold" pitchFamily="34" charset="-120"/>
              </a:rPr>
              <a:t>프론트엔드(React)</a:t>
            </a:r>
            <a:pPr algn="l" indent="0" marL="0">
              <a:lnSpc>
                <a:spcPct val="102000"/>
              </a:lnSpc>
              <a:buNone/>
            </a:pPr>
            <a:r>
              <a:rPr lang="ko-KR" altLang="en-US" sz="500" dirty="0">
                <a:solidFill>
                  <a:srgbClr val="272525"/>
                </a:solidFill>
                <a:latin typeface="Inter" pitchFamily="34" charset="0"/>
                <a:ea typeface="Inter" pitchFamily="34" charset="-122"/>
                <a:cs typeface="Inter" pitchFamily="34" charset="-120"/>
              </a:rPr>
              <a:t>와 </a:t>
            </a:r>
            <a:pPr algn="l" indent="0" marL="0">
              <a:lnSpc>
                <a:spcPct val="102000"/>
              </a:lnSpc>
              <a:buNone/>
            </a:pPr>
            <a:r>
              <a:rPr lang="ko-KR" altLang="en-US" sz="500" b="1" dirty="0">
                <a:solidFill>
                  <a:srgbClr val="272525"/>
                </a:solidFill>
                <a:latin typeface="Inter Bold" pitchFamily="34" charset="0"/>
                <a:ea typeface="Inter Bold" pitchFamily="34" charset="-122"/>
                <a:cs typeface="Inter Bold" pitchFamily="34" charset="-120"/>
              </a:rPr>
              <a:t>백엔드(Rust/Tauri)</a:t>
            </a:r>
            <a:pPr algn="l" indent="0" marL="0">
              <a:lnSpc>
                <a:spcPct val="102000"/>
              </a:lnSpc>
              <a:buNone/>
            </a:pPr>
            <a:r>
              <a:rPr lang="ko-KR" altLang="en-US" sz="500" dirty="0">
                <a:solidFill>
                  <a:srgbClr val="272525"/>
                </a:solidFill>
                <a:latin typeface="Inter" pitchFamily="34" charset="0"/>
                <a:ea typeface="Inter" pitchFamily="34" charset="-122"/>
                <a:cs typeface="Inter" pitchFamily="34" charset="-120"/>
              </a:rPr>
              <a:t>가 </a:t>
            </a:r>
            <a:pPr algn="l" indent="0" marL="0">
              <a:lnSpc>
                <a:spcPct val="102000"/>
              </a:lnSpc>
              <a:buNone/>
            </a:pPr>
            <a:r>
              <a:rPr lang="ko-KR" altLang="en-US" sz="500" b="1" dirty="0">
                <a:solidFill>
                  <a:srgbClr val="272525"/>
                </a:solidFill>
                <a:latin typeface="Inter Bold" pitchFamily="34" charset="0"/>
                <a:ea typeface="Inter Bold" pitchFamily="34" charset="-122"/>
                <a:cs typeface="Inter Bold" pitchFamily="34" charset="-120"/>
              </a:rPr>
              <a:t>IPC(Inter-Process Communication)</a:t>
            </a:r>
            <a:pPr algn="l" indent="0" marL="0">
              <a:lnSpc>
                <a:spcPct val="102000"/>
              </a:lnSpc>
              <a:buNone/>
            </a:pPr>
            <a:r>
              <a:rPr lang="ko-KR" altLang="en-US" sz="500" dirty="0">
                <a:solidFill>
                  <a:srgbClr val="272525"/>
                </a:solidFill>
                <a:latin typeface="Inter" pitchFamily="34" charset="0"/>
                <a:ea typeface="Inter" pitchFamily="34" charset="-122"/>
                <a:cs typeface="Inter" pitchFamily="34" charset="-120"/>
              </a:rPr>
              <a:t>로 통신하는 네이티브 데스크탑 앱입니다. 외부 서버 없이 사용자 기기에서 완전히 동작하며, AI API만 외부 네트워크를 통해 호출합니다. 데이터 흐름은 사용자 단축키 입력에서 시작하여 OS 전역 단축키 리스너가 이를 포착하고, Rust 백엔드가 소스 앱을 포어그라운드로 복원한 뒤 접근성 API로 선택 텍스트를 캡처합니다. 이후 IPC를 통해 React 프론트엔드로 텍스트와 마우스 좌표를 전달하고, 사용자가 프리셋 또는 자유 프롬프트를 선택하면 AI API와 통신하여 결과를 표시합니다. 최종적으로 붙여넣기 시에는 OS 접근성 API로 원래 앱에 텍스트를 삽입하며, 실패 시 클립보드 + 단축키 에뮬레이션으로 폴백합니다.</a:t>
            </a:r>
            <a:endParaRPr lang="ko-KR" sz="500" dirty="0"/>
          </a:p>
        </p:txBody>
      </p:sp>
      <p:pic>
        <p:nvPicPr>
          <p:cNvPr id="6" name="Image 0" descr="preencoded.png">    </p:cNvPr>
          <p:cNvPicPr>
            <a:picLocks noChangeAspect="1"/>
          </p:cNvPicPr>
          <p:nvPr/>
        </p:nvPicPr>
        <p:blipFill>
          <a:blip r:embed="rId1"/>
          <a:stretch>
            <a:fillRect/>
          </a:stretch>
        </p:blipFill>
        <p:spPr>
          <a:xfrm>
            <a:off x="496119" y="1011808"/>
            <a:ext cx="6500813" cy="3657600"/>
          </a:xfrm>
          <a:prstGeom prst="rect">
            <a:avLst/>
          </a:prstGeom>
        </p:spPr>
      </p:pic>
      <p:sp>
        <p:nvSpPr>
          <p:cNvPr id="7" name="Text 4"/>
          <p:cNvSpPr/>
          <p:nvPr/>
        </p:nvSpPr>
        <p:spPr>
          <a:xfrm>
            <a:off x="496119" y="4708773"/>
            <a:ext cx="8608963" cy="80739"/>
          </a:xfrm>
          <a:prstGeom prst="rect">
            <a:avLst/>
          </a:prstGeom>
          <a:noFill/>
          <a:ln/>
        </p:spPr>
        <p:txBody>
          <a:bodyPr wrap="none" lIns="0" tIns="0" rIns="0" bIns="0" rtlCol="0" anchor="t"/>
          <a:lstStyle/>
          <a:p>
            <a:pPr algn="l" indent="0" marL="0">
              <a:lnSpc>
                <a:spcPct val="102000"/>
              </a:lnSpc>
              <a:buNone/>
            </a:pPr>
            <a:r>
              <a:rPr lang="ko-KR" altLang="en-US" sz="500" dirty="0">
                <a:solidFill>
                  <a:srgbClr val="272525"/>
                </a:solidFill>
                <a:latin typeface="Inter" pitchFamily="34" charset="0"/>
                <a:ea typeface="Inter" pitchFamily="34" charset="-122"/>
                <a:cs typeface="Inter" pitchFamily="34" charset="-120"/>
              </a:rPr>
              <a:t>전체 파이프라인은 사용자 기기 내에서 폐쇄적으로 동작하며, 텍스트 데이터는 선택한 AI 제공사의 API 엔드포인트로만 전송됩니다.</a:t>
            </a:r>
            <a:endParaRPr lang="ko-KR" sz="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496119" y="370880"/>
            <a:ext cx="721370" cy="233214"/>
          </a:xfrm>
          <a:prstGeom prst="roundRect">
            <a:avLst>
              <a:gd name="adj" fmla="val 17872"/>
            </a:avLst>
          </a:prstGeom>
          <a:solidFill>
            <a:srgbClr val="DADBF1"/>
          </a:solidFill>
          <a:ln/>
        </p:spPr>
      </p:sp>
      <p:sp>
        <p:nvSpPr>
          <p:cNvPr id="3" name="Text 1"/>
          <p:cNvSpPr/>
          <p:nvPr/>
        </p:nvSpPr>
        <p:spPr>
          <a:xfrm>
            <a:off x="570533" y="408087"/>
            <a:ext cx="1029742" cy="158800"/>
          </a:xfrm>
          <a:prstGeom prst="rect">
            <a:avLst/>
          </a:prstGeom>
          <a:noFill/>
          <a:ln/>
        </p:spPr>
        <p:txBody>
          <a:bodyPr wrap="none" lIns="0" tIns="0" rIns="0" bIns="0" rtlCol="0" anchor="t"/>
          <a:lstStyle/>
          <a:p>
            <a:pPr algn="l" indent="0" marL="0">
              <a:lnSpc>
                <a:spcPct val="133000"/>
              </a:lnSpc>
              <a:buNone/>
            </a:pPr>
            <a:r>
              <a:rPr lang="ko-KR" altLang="en-US" sz="750" dirty="0">
                <a:solidFill>
                  <a:srgbClr val="272525"/>
                </a:solidFill>
                <a:latin typeface="Inter" pitchFamily="34" charset="0"/>
                <a:ea typeface="Inter" pitchFamily="34" charset="-122"/>
                <a:cs typeface="Inter" pitchFamily="34" charset="-120"/>
              </a:rPr>
              <a:t>02 · 아키텍처</a:t>
            </a:r>
            <a:endParaRPr lang="ko-KR" sz="750" dirty="0"/>
          </a:p>
        </p:txBody>
      </p:sp>
      <p:sp>
        <p:nvSpPr>
          <p:cNvPr id="4" name="Text 2"/>
          <p:cNvSpPr/>
          <p:nvPr/>
        </p:nvSpPr>
        <p:spPr>
          <a:xfrm>
            <a:off x="496119" y="653653"/>
            <a:ext cx="3558332" cy="387548"/>
          </a:xfrm>
          <a:prstGeom prst="rect">
            <a:avLst/>
          </a:prstGeom>
          <a:noFill/>
          <a:ln/>
        </p:spPr>
        <p:txBody>
          <a:bodyPr wrap="none" lIns="0" tIns="0" rIns="0" bIns="0" rtlCol="0" anchor="t"/>
          <a:lstStyle/>
          <a:p>
            <a:pPr algn="l" indent="0" marL="0">
              <a:lnSpc>
                <a:spcPct val="104000"/>
              </a:lnSpc>
              <a:buNone/>
            </a:pPr>
            <a:r>
              <a:rPr lang="ko-KR" altLang="en-US" sz="2400" b="1" dirty="0">
                <a:solidFill>
                  <a:srgbClr val="000000"/>
                </a:solidFill>
                <a:latin typeface="Inter Bold" pitchFamily="34" charset="0"/>
                <a:ea typeface="Inter Bold" pitchFamily="34" charset="-122"/>
                <a:cs typeface="Inter Bold" pitchFamily="34" charset="-120"/>
              </a:rPr>
              <a:t>레이어별 상세 구조</a:t>
            </a:r>
            <a:endParaRPr lang="ko-KR" sz="2400" dirty="0"/>
          </a:p>
        </p:txBody>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96119" y="1227237"/>
            <a:ext cx="4013895" cy="1710705"/>
          </a:xfrm>
          <a:prstGeom prst="rect">
            <a:avLst/>
          </a:prstGeom>
        </p:spPr>
      </p:pic>
      <p:sp>
        <p:nvSpPr>
          <p:cNvPr id="6" name="Text 3"/>
          <p:cNvSpPr/>
          <p:nvPr/>
        </p:nvSpPr>
        <p:spPr>
          <a:xfrm>
            <a:off x="2410048" y="1308869"/>
            <a:ext cx="186035" cy="232544"/>
          </a:xfrm>
          <a:prstGeom prst="rect">
            <a:avLst/>
          </a:prstGeom>
          <a:noFill/>
          <a:ln/>
        </p:spPr>
        <p:txBody>
          <a:bodyPr wrap="none" lIns="0" tIns="0" rIns="0" bIns="0" rtlCol="0" anchor="ctr"/>
          <a:lstStyle/>
          <a:p>
            <a:pPr algn="ctr" indent="0" marL="0">
              <a:lnSpc>
                <a:spcPct val="100000"/>
              </a:lnSpc>
              <a:buNone/>
            </a:pPr>
            <a:r>
              <a:rPr lang="en-US" sz="1450" b="1" dirty="0">
                <a:solidFill>
                  <a:srgbClr val="272525"/>
                </a:solidFill>
                <a:latin typeface="Inter Bold" pitchFamily="34" charset="0"/>
                <a:ea typeface="Inter Bold" pitchFamily="34" charset="-122"/>
                <a:cs typeface="Inter Bold" pitchFamily="34" charset="-120"/>
              </a:rPr>
              <a:t>1</a:t>
            </a:r>
            <a:endParaRPr lang="en-US" sz="1450" dirty="0"/>
          </a:p>
        </p:txBody>
      </p:sp>
      <p:sp>
        <p:nvSpPr>
          <p:cNvPr id="7" name="Text 4"/>
          <p:cNvSpPr/>
          <p:nvPr/>
        </p:nvSpPr>
        <p:spPr>
          <a:xfrm>
            <a:off x="634380" y="1737568"/>
            <a:ext cx="1550566" cy="193849"/>
          </a:xfrm>
          <a:prstGeom prst="rect">
            <a:avLst/>
          </a:prstGeom>
          <a:noFill/>
          <a:ln/>
        </p:spPr>
        <p:txBody>
          <a:bodyPr wrap="none" lIns="0" tIns="0" rIns="0" bIns="0" rtlCol="0" anchor="t"/>
          <a:lstStyle/>
          <a:p>
            <a:pPr algn="l" indent="0" marL="0">
              <a:lnSpc>
                <a:spcPct val="104000"/>
              </a:lnSpc>
              <a:buNone/>
            </a:pPr>
            <a:r>
              <a:rPr lang="ko-KR" altLang="en-US" sz="1200" b="1" dirty="0">
                <a:solidFill>
                  <a:srgbClr val="272525"/>
                </a:solidFill>
                <a:latin typeface="Inter Bold" pitchFamily="34" charset="0"/>
                <a:ea typeface="Inter Bold" pitchFamily="34" charset="-122"/>
                <a:cs typeface="Inter Bold" pitchFamily="34" charset="-120"/>
              </a:rPr>
              <a:t>사용자 입력 계층</a:t>
            </a:r>
            <a:endParaRPr lang="ko-KR" sz="1200" dirty="0"/>
          </a:p>
        </p:txBody>
      </p:sp>
      <p:sp>
        <p:nvSpPr>
          <p:cNvPr id="8" name="Text 5"/>
          <p:cNvSpPr/>
          <p:nvPr/>
        </p:nvSpPr>
        <p:spPr>
          <a:xfrm>
            <a:off x="634380" y="2005831"/>
            <a:ext cx="3737372" cy="595387"/>
          </a:xfrm>
          <a:prstGeom prst="rect">
            <a:avLst/>
          </a:prstGeom>
          <a:noFill/>
          <a:ln/>
        </p:spPr>
        <p:txBody>
          <a:bodyPr wrap="square" lIns="0" tIns="0" rIns="0" bIns="0" rtlCol="0" anchor="t">
            <a:normAutofit/>
          </a:bodyPr>
          <a:lstStyle/>
          <a:p>
            <a:pPr algn="l" indent="0" marL="0">
              <a:lnSpc>
                <a:spcPct val="133000"/>
              </a:lnSpc>
              <a:buNone/>
            </a:pPr>
            <a:r>
              <a:rPr lang="ko-KR" altLang="en-US" sz="950" dirty="0">
                <a:solidFill>
                  <a:srgbClr val="272525"/>
                </a:solidFill>
                <a:latin typeface="Inter" pitchFamily="34" charset="0"/>
                <a:ea typeface="Inter" pitchFamily="34" charset="-122"/>
                <a:cs typeface="Inter" pitchFamily="34" charset="-120"/>
              </a:rPr>
              <a:t>Option+Space (macOS) / Alt+Space (Windows·Linux) 전역 단축키 입력. HOTKEY_IN_PROGRESS 플래그로 250ms 디바운싱 처리하여 중복 호출 방지.</a:t>
            </a:r>
            <a:endParaRPr lang="ko-KR" sz="950" dirty="0"/>
          </a:p>
        </p:txBody>
      </p:sp>
      <p:pic>
        <p:nvPicPr>
          <p:cNvPr id="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33987" y="1227237"/>
            <a:ext cx="4013895" cy="1710705"/>
          </a:xfrm>
          <a:prstGeom prst="rect">
            <a:avLst/>
          </a:prstGeom>
        </p:spPr>
      </p:pic>
      <p:sp>
        <p:nvSpPr>
          <p:cNvPr id="10" name="Text 6"/>
          <p:cNvSpPr/>
          <p:nvPr/>
        </p:nvSpPr>
        <p:spPr>
          <a:xfrm>
            <a:off x="6547917" y="1308869"/>
            <a:ext cx="186035" cy="232544"/>
          </a:xfrm>
          <a:prstGeom prst="rect">
            <a:avLst/>
          </a:prstGeom>
          <a:noFill/>
          <a:ln/>
        </p:spPr>
        <p:txBody>
          <a:bodyPr wrap="none" lIns="0" tIns="0" rIns="0" bIns="0" rtlCol="0" anchor="ctr"/>
          <a:lstStyle/>
          <a:p>
            <a:pPr algn="ctr" indent="0" marL="0">
              <a:lnSpc>
                <a:spcPct val="100000"/>
              </a:lnSpc>
              <a:buNone/>
            </a:pPr>
            <a:r>
              <a:rPr lang="en-US" sz="1450" b="1" dirty="0">
                <a:solidFill>
                  <a:srgbClr val="272525"/>
                </a:solidFill>
                <a:latin typeface="Inter Bold" pitchFamily="34" charset="0"/>
                <a:ea typeface="Inter Bold" pitchFamily="34" charset="-122"/>
                <a:cs typeface="Inter Bold" pitchFamily="34" charset="-120"/>
              </a:rPr>
              <a:t>2</a:t>
            </a:r>
            <a:endParaRPr lang="en-US" sz="1450" dirty="0"/>
          </a:p>
        </p:txBody>
      </p:sp>
      <p:sp>
        <p:nvSpPr>
          <p:cNvPr id="11" name="Text 7"/>
          <p:cNvSpPr/>
          <p:nvPr/>
        </p:nvSpPr>
        <p:spPr>
          <a:xfrm>
            <a:off x="4772248" y="1737568"/>
            <a:ext cx="1550566" cy="193849"/>
          </a:xfrm>
          <a:prstGeom prst="rect">
            <a:avLst/>
          </a:prstGeom>
          <a:noFill/>
          <a:ln/>
        </p:spPr>
        <p:txBody>
          <a:bodyPr wrap="none" lIns="0" tIns="0" rIns="0" bIns="0" rtlCol="0" anchor="t"/>
          <a:lstStyle/>
          <a:p>
            <a:pPr algn="l" indent="0" marL="0">
              <a:lnSpc>
                <a:spcPct val="104000"/>
              </a:lnSpc>
              <a:buNone/>
            </a:pPr>
            <a:r>
              <a:rPr lang="ko-KR" altLang="en-US" sz="1200" b="1" dirty="0">
                <a:solidFill>
                  <a:srgbClr val="272525"/>
                </a:solidFill>
                <a:latin typeface="Inter Bold" pitchFamily="34" charset="0"/>
                <a:ea typeface="Inter Bold" pitchFamily="34" charset="-122"/>
                <a:cs typeface="Inter Bold" pitchFamily="34" charset="-120"/>
              </a:rPr>
              <a:t>Tauri 백엔드 (Rust)</a:t>
            </a:r>
            <a:endParaRPr lang="ko-KR" sz="1200" dirty="0"/>
          </a:p>
        </p:txBody>
      </p:sp>
      <p:sp>
        <p:nvSpPr>
          <p:cNvPr id="12" name="Text 8"/>
          <p:cNvSpPr/>
          <p:nvPr/>
        </p:nvSpPr>
        <p:spPr>
          <a:xfrm>
            <a:off x="4772248" y="2005831"/>
            <a:ext cx="3737372" cy="793849"/>
          </a:xfrm>
          <a:prstGeom prst="rect">
            <a:avLst/>
          </a:prstGeom>
          <a:noFill/>
          <a:ln/>
        </p:spPr>
        <p:txBody>
          <a:bodyPr wrap="square" lIns="0" tIns="0" rIns="0" bIns="0" rtlCol="0" anchor="t">
            <a:normAutofit/>
          </a:bodyPr>
          <a:lstStyle/>
          <a:p>
            <a:pPr algn="l" indent="0" marL="0">
              <a:lnSpc>
                <a:spcPct val="133000"/>
              </a:lnSpc>
              <a:buNone/>
            </a:pPr>
            <a:r>
              <a:rPr lang="ko-KR" altLang="en-US" sz="950" dirty="0">
                <a:solidFill>
                  <a:srgbClr val="272525"/>
                </a:solidFill>
                <a:latin typeface="Inter" pitchFamily="34" charset="0"/>
                <a:ea typeface="Inter" pitchFamily="34" charset="-122"/>
                <a:cs typeface="Inter" pitchFamily="34" charset="-120"/>
              </a:rPr>
              <a:t>① 소스 앱 포어그라운드 복원 (40ms 대기) → ② OS 접근성 API로 선택 텍스트 캡처 (최대 4회 retry, 120→180→260→340ms 간격) → ③ 마우스 커서 좌표 조회 → ④ IPC 이벤트로 프론트엔드에 텍스트 + 좌표 emit.</a:t>
            </a:r>
            <a:endParaRPr lang="ko-KR" sz="950" dirty="0"/>
          </a:p>
        </p:txBody>
      </p:sp>
      <p:pic>
        <p:nvPicPr>
          <p:cNvPr id="13"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96119" y="3061915"/>
            <a:ext cx="4013895" cy="1710705"/>
          </a:xfrm>
          <a:prstGeom prst="rect">
            <a:avLst/>
          </a:prstGeom>
        </p:spPr>
      </p:pic>
      <p:sp>
        <p:nvSpPr>
          <p:cNvPr id="14" name="Text 9"/>
          <p:cNvSpPr/>
          <p:nvPr/>
        </p:nvSpPr>
        <p:spPr>
          <a:xfrm>
            <a:off x="2410048" y="3143548"/>
            <a:ext cx="186035" cy="232544"/>
          </a:xfrm>
          <a:prstGeom prst="rect">
            <a:avLst/>
          </a:prstGeom>
          <a:noFill/>
          <a:ln/>
        </p:spPr>
        <p:txBody>
          <a:bodyPr wrap="none" lIns="0" tIns="0" rIns="0" bIns="0" rtlCol="0" anchor="ctr"/>
          <a:lstStyle/>
          <a:p>
            <a:pPr algn="ctr" indent="0" marL="0">
              <a:lnSpc>
                <a:spcPct val="100000"/>
              </a:lnSpc>
              <a:buNone/>
            </a:pPr>
            <a:r>
              <a:rPr lang="en-US" sz="1450" b="1" dirty="0">
                <a:solidFill>
                  <a:srgbClr val="272525"/>
                </a:solidFill>
                <a:latin typeface="Inter Bold" pitchFamily="34" charset="0"/>
                <a:ea typeface="Inter Bold" pitchFamily="34" charset="-122"/>
                <a:cs typeface="Inter Bold" pitchFamily="34" charset="-120"/>
              </a:rPr>
              <a:t>3</a:t>
            </a:r>
            <a:endParaRPr lang="en-US" sz="1450" dirty="0"/>
          </a:p>
        </p:txBody>
      </p:sp>
      <p:sp>
        <p:nvSpPr>
          <p:cNvPr id="15" name="Text 10"/>
          <p:cNvSpPr/>
          <p:nvPr/>
        </p:nvSpPr>
        <p:spPr>
          <a:xfrm>
            <a:off x="634380" y="3572247"/>
            <a:ext cx="2165003" cy="193849"/>
          </a:xfrm>
          <a:prstGeom prst="rect">
            <a:avLst/>
          </a:prstGeom>
          <a:noFill/>
          <a:ln/>
        </p:spPr>
        <p:txBody>
          <a:bodyPr wrap="none" lIns="0" tIns="0" rIns="0" bIns="0" rtlCol="0" anchor="t"/>
          <a:lstStyle/>
          <a:p>
            <a:pPr algn="l" indent="0" marL="0">
              <a:lnSpc>
                <a:spcPct val="104000"/>
              </a:lnSpc>
              <a:buNone/>
            </a:pPr>
            <a:r>
              <a:rPr lang="ko-KR" altLang="en-US" sz="1200" b="1" dirty="0">
                <a:solidFill>
                  <a:srgbClr val="272525"/>
                </a:solidFill>
                <a:latin typeface="Inter Bold" pitchFamily="34" charset="0"/>
                <a:ea typeface="Inter Bold" pitchFamily="34" charset="-122"/>
                <a:cs typeface="Inter Bold" pitchFamily="34" charset="-120"/>
              </a:rPr>
              <a:t>프론트엔드 (React + TS + Vite)</a:t>
            </a:r>
            <a:endParaRPr lang="ko-KR" sz="1200" dirty="0"/>
          </a:p>
        </p:txBody>
      </p:sp>
      <p:sp>
        <p:nvSpPr>
          <p:cNvPr id="16" name="Text 11"/>
          <p:cNvSpPr/>
          <p:nvPr/>
        </p:nvSpPr>
        <p:spPr>
          <a:xfrm>
            <a:off x="634380" y="3840510"/>
            <a:ext cx="3737372" cy="793849"/>
          </a:xfrm>
          <a:prstGeom prst="rect">
            <a:avLst/>
          </a:prstGeom>
          <a:noFill/>
          <a:ln/>
        </p:spPr>
        <p:txBody>
          <a:bodyPr wrap="square" lIns="0" tIns="0" rIns="0" bIns="0" rtlCol="0" anchor="t">
            <a:normAutofit/>
          </a:bodyPr>
          <a:lstStyle/>
          <a:p>
            <a:pPr algn="l" indent="0" marL="0">
              <a:lnSpc>
                <a:spcPct val="133000"/>
              </a:lnSpc>
              <a:buNone/>
            </a:pPr>
            <a:r>
              <a:rPr lang="ko-KR" altLang="en-US" sz="950" dirty="0">
                <a:solidFill>
                  <a:srgbClr val="272525"/>
                </a:solidFill>
                <a:latin typeface="Inter" pitchFamily="34" charset="0"/>
                <a:ea typeface="Inter" pitchFamily="34" charset="-122"/>
                <a:cs typeface="Inter" pitchFamily="34" charset="-120"/>
              </a:rPr>
              <a:t>FloatingMenu.tsx — 플로팅 메뉴 UI (프리셋 버튼 5종, 자유 입력 프롬프트,  결과 표시, 붙여넣기/복사 버튼). SettingsWindow.tsx — 제공사·모델 선택, API 키, 시스템 프롬프트 설정. SettingsContext.tsx — 전역 설정 상태 관리.</a:t>
            </a:r>
            <a:endParaRPr lang="ko-KR" sz="950" dirty="0"/>
          </a:p>
        </p:txBody>
      </p:sp>
      <p:pic>
        <p:nvPicPr>
          <p:cNvPr id="17"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633987" y="3061915"/>
            <a:ext cx="4013895" cy="1710705"/>
          </a:xfrm>
          <a:prstGeom prst="rect">
            <a:avLst/>
          </a:prstGeom>
        </p:spPr>
      </p:pic>
      <p:sp>
        <p:nvSpPr>
          <p:cNvPr id="18" name="Text 12"/>
          <p:cNvSpPr/>
          <p:nvPr/>
        </p:nvSpPr>
        <p:spPr>
          <a:xfrm>
            <a:off x="6547917" y="3143548"/>
            <a:ext cx="186035" cy="232544"/>
          </a:xfrm>
          <a:prstGeom prst="rect">
            <a:avLst/>
          </a:prstGeom>
          <a:noFill/>
          <a:ln/>
        </p:spPr>
        <p:txBody>
          <a:bodyPr wrap="none" lIns="0" tIns="0" rIns="0" bIns="0" rtlCol="0" anchor="ctr"/>
          <a:lstStyle/>
          <a:p>
            <a:pPr algn="ctr" indent="0" marL="0">
              <a:lnSpc>
                <a:spcPct val="100000"/>
              </a:lnSpc>
              <a:buNone/>
            </a:pPr>
            <a:r>
              <a:rPr lang="en-US" sz="1450" b="1" dirty="0">
                <a:solidFill>
                  <a:srgbClr val="272525"/>
                </a:solidFill>
                <a:latin typeface="Inter Bold" pitchFamily="34" charset="0"/>
                <a:ea typeface="Inter Bold" pitchFamily="34" charset="-122"/>
                <a:cs typeface="Inter Bold" pitchFamily="34" charset="-120"/>
              </a:rPr>
              <a:t>4</a:t>
            </a:r>
            <a:endParaRPr lang="en-US" sz="1450" dirty="0"/>
          </a:p>
        </p:txBody>
      </p:sp>
      <p:sp>
        <p:nvSpPr>
          <p:cNvPr id="19" name="Text 13"/>
          <p:cNvSpPr/>
          <p:nvPr/>
        </p:nvSpPr>
        <p:spPr>
          <a:xfrm>
            <a:off x="4772248" y="3572247"/>
            <a:ext cx="1550566" cy="193849"/>
          </a:xfrm>
          <a:prstGeom prst="rect">
            <a:avLst/>
          </a:prstGeom>
          <a:noFill/>
          <a:ln/>
        </p:spPr>
        <p:txBody>
          <a:bodyPr wrap="none" lIns="0" tIns="0" rIns="0" bIns="0" rtlCol="0" anchor="t"/>
          <a:lstStyle/>
          <a:p>
            <a:pPr algn="l" indent="0" marL="0">
              <a:lnSpc>
                <a:spcPct val="104000"/>
              </a:lnSpc>
              <a:buNone/>
            </a:pPr>
            <a:r>
              <a:rPr lang="ko-KR" altLang="en-US" sz="1200" b="1" dirty="0">
                <a:solidFill>
                  <a:srgbClr val="272525"/>
                </a:solidFill>
                <a:latin typeface="Inter Bold" pitchFamily="34" charset="0"/>
                <a:ea typeface="Inter Bold" pitchFamily="34" charset="-122"/>
                <a:cs typeface="Inter Bold" pitchFamily="34" charset="-120"/>
              </a:rPr>
              <a:t>외부 AI API</a:t>
            </a:r>
            <a:endParaRPr lang="ko-KR" sz="1200" dirty="0"/>
          </a:p>
        </p:txBody>
      </p:sp>
      <p:sp>
        <p:nvSpPr>
          <p:cNvPr id="20" name="Text 14"/>
          <p:cNvSpPr/>
          <p:nvPr/>
        </p:nvSpPr>
        <p:spPr>
          <a:xfrm>
            <a:off x="4772248" y="3840510"/>
            <a:ext cx="3737372"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72525"/>
                </a:solidFill>
                <a:latin typeface="Inter" pitchFamily="34" charset="0"/>
                <a:ea typeface="Inter" pitchFamily="34" charset="-122"/>
                <a:cs typeface="Inter" pitchFamily="34" charset="-120"/>
              </a:rPr>
              <a:t>OpenAI / Anthropic / Google Gemini / AWS Bedrock / OpenRouter. </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496119" y="514052"/>
            <a:ext cx="749275" cy="233214"/>
          </a:xfrm>
          <a:prstGeom prst="roundRect">
            <a:avLst>
              <a:gd name="adj" fmla="val 17872"/>
            </a:avLst>
          </a:prstGeom>
          <a:solidFill>
            <a:srgbClr val="DADBF1"/>
          </a:solidFill>
          <a:ln/>
        </p:spPr>
      </p:sp>
      <p:sp>
        <p:nvSpPr>
          <p:cNvPr id="3" name="Text 1"/>
          <p:cNvSpPr/>
          <p:nvPr/>
        </p:nvSpPr>
        <p:spPr>
          <a:xfrm>
            <a:off x="570533" y="551259"/>
            <a:ext cx="1057647" cy="158800"/>
          </a:xfrm>
          <a:prstGeom prst="rect">
            <a:avLst/>
          </a:prstGeom>
          <a:noFill/>
          <a:ln/>
        </p:spPr>
        <p:txBody>
          <a:bodyPr wrap="none" lIns="0" tIns="0" rIns="0" bIns="0" rtlCol="0" anchor="t"/>
          <a:lstStyle/>
          <a:p>
            <a:pPr algn="l" indent="0" marL="0">
              <a:lnSpc>
                <a:spcPct val="133000"/>
              </a:lnSpc>
              <a:buNone/>
            </a:pPr>
            <a:r>
              <a:rPr lang="ko-KR" altLang="en-US" sz="750" dirty="0">
                <a:solidFill>
                  <a:srgbClr val="272525"/>
                </a:solidFill>
                <a:latin typeface="Inter" pitchFamily="34" charset="0"/>
                <a:ea typeface="Inter" pitchFamily="34" charset="-122"/>
                <a:cs typeface="Inter" pitchFamily="34" charset="-120"/>
              </a:rPr>
              <a:t>02 · 기술 스택</a:t>
            </a:r>
            <a:endParaRPr lang="ko-KR" sz="750" dirty="0"/>
          </a:p>
        </p:txBody>
      </p:sp>
      <p:sp>
        <p:nvSpPr>
          <p:cNvPr id="4" name="Text 2"/>
          <p:cNvSpPr/>
          <p:nvPr/>
        </p:nvSpPr>
        <p:spPr>
          <a:xfrm>
            <a:off x="496119" y="796826"/>
            <a:ext cx="3558332" cy="387548"/>
          </a:xfrm>
          <a:prstGeom prst="rect">
            <a:avLst/>
          </a:prstGeom>
          <a:noFill/>
          <a:ln/>
        </p:spPr>
        <p:txBody>
          <a:bodyPr wrap="none" lIns="0" tIns="0" rIns="0" bIns="0" rtlCol="0" anchor="t"/>
          <a:lstStyle/>
          <a:p>
            <a:pPr algn="l" indent="0" marL="0">
              <a:lnSpc>
                <a:spcPct val="104000"/>
              </a:lnSpc>
              <a:buNone/>
            </a:pPr>
            <a:r>
              <a:rPr lang="ko-KR" altLang="en-US" sz="2400" b="1" dirty="0">
                <a:solidFill>
                  <a:srgbClr val="000000"/>
                </a:solidFill>
                <a:latin typeface="Inter Bold" pitchFamily="34" charset="0"/>
                <a:ea typeface="Inter Bold" pitchFamily="34" charset="-122"/>
                <a:cs typeface="Inter Bold" pitchFamily="34" charset="-120"/>
              </a:rPr>
              <a:t>주요 기술 스택</a:t>
            </a:r>
            <a:endParaRPr lang="ko-KR" sz="2400" dirty="0"/>
          </a:p>
        </p:txBody>
      </p:sp>
      <p:sp>
        <p:nvSpPr>
          <p:cNvPr id="5" name="Shape 3"/>
          <p:cNvSpPr/>
          <p:nvPr/>
        </p:nvSpPr>
        <p:spPr>
          <a:xfrm>
            <a:off x="496119" y="1370409"/>
            <a:ext cx="8151763" cy="3258964"/>
          </a:xfrm>
          <a:prstGeom prst="roundRect">
            <a:avLst>
              <a:gd name="adj" fmla="val 1599"/>
            </a:avLst>
          </a:prstGeom>
          <a:noFill/>
          <a:ln w="4763">
            <a:solidFill>
              <a:srgbClr val="000000">
                <a:alpha val="8000"/>
              </a:srgbClr>
            </a:solidFill>
            <a:prstDash val="solid"/>
          </a:ln>
        </p:spPr>
      </p:sp>
      <p:sp>
        <p:nvSpPr>
          <p:cNvPr id="6" name="Text 4"/>
          <p:cNvSpPr/>
          <p:nvPr/>
        </p:nvSpPr>
        <p:spPr>
          <a:xfrm>
            <a:off x="624929" y="1454348"/>
            <a:ext cx="2651894" cy="198462"/>
          </a:xfrm>
          <a:prstGeom prst="rect">
            <a:avLst/>
          </a:prstGeom>
          <a:noFill/>
          <a:ln/>
        </p:spPr>
        <p:txBody>
          <a:bodyPr wrap="none" lIns="0" tIns="0" rIns="0" bIns="0" rtlCol="0" anchor="t"/>
          <a:lstStyle/>
          <a:p>
            <a:pPr algn="l" indent="0" marL="0">
              <a:lnSpc>
                <a:spcPct val="133000"/>
              </a:lnSpc>
              <a:buNone/>
            </a:pPr>
            <a:r>
              <a:rPr lang="ko-KR" altLang="en-US" sz="950" b="1" dirty="0">
                <a:solidFill>
                  <a:srgbClr val="272525"/>
                </a:solidFill>
                <a:latin typeface="Inter Bold" pitchFamily="34" charset="0"/>
                <a:ea typeface="Inter Bold" pitchFamily="34" charset="-122"/>
                <a:cs typeface="Inter Bold" pitchFamily="34" charset="-120"/>
              </a:rPr>
              <a:t>프론트엔드 UI</a:t>
            </a:r>
            <a:endParaRPr lang="ko-KR" sz="950" dirty="0"/>
          </a:p>
        </p:txBody>
      </p:sp>
      <p:sp>
        <p:nvSpPr>
          <p:cNvPr id="7" name="Text 5"/>
          <p:cNvSpPr/>
          <p:nvPr/>
        </p:nvSpPr>
        <p:spPr>
          <a:xfrm>
            <a:off x="3067571" y="1454348"/>
            <a:ext cx="5908774" cy="198462"/>
          </a:xfrm>
          <a:prstGeom prst="rect">
            <a:avLst/>
          </a:prstGeom>
          <a:noFill/>
          <a:ln/>
        </p:spPr>
        <p:txBody>
          <a:bodyPr wrap="none" lIns="0" tIns="0" rIns="0" bIns="0" rtlCol="0" anchor="t"/>
          <a:lstStyle/>
          <a:p>
            <a:pPr algn="l" indent="0" marL="0">
              <a:lnSpc>
                <a:spcPct val="133000"/>
              </a:lnSpc>
              <a:buNone/>
            </a:pPr>
            <a:r>
              <a:rPr lang="en-US" sz="950" dirty="0">
                <a:solidFill>
                  <a:srgbClr val="272525"/>
                </a:solidFill>
                <a:latin typeface="Inter" pitchFamily="34" charset="0"/>
                <a:ea typeface="Inter" pitchFamily="34" charset="-122"/>
                <a:cs typeface="Inter" pitchFamily="34" charset="-120"/>
              </a:rPr>
              <a:t>React 18 + TypeScript + Vite</a:t>
            </a:r>
            <a:endParaRPr lang="en-US" sz="950" dirty="0"/>
          </a:p>
        </p:txBody>
      </p:sp>
      <p:sp>
        <p:nvSpPr>
          <p:cNvPr id="8" name="Text 6"/>
          <p:cNvSpPr/>
          <p:nvPr/>
        </p:nvSpPr>
        <p:spPr>
          <a:xfrm>
            <a:off x="624929" y="1815926"/>
            <a:ext cx="2651894" cy="198462"/>
          </a:xfrm>
          <a:prstGeom prst="rect">
            <a:avLst/>
          </a:prstGeom>
          <a:noFill/>
          <a:ln/>
        </p:spPr>
        <p:txBody>
          <a:bodyPr wrap="none" lIns="0" tIns="0" rIns="0" bIns="0" rtlCol="0" anchor="t"/>
          <a:lstStyle/>
          <a:p>
            <a:pPr algn="l" indent="0" marL="0">
              <a:lnSpc>
                <a:spcPct val="133000"/>
              </a:lnSpc>
              <a:buNone/>
            </a:pPr>
            <a:r>
              <a:rPr lang="ko-KR" altLang="en-US" sz="950" b="1" dirty="0">
                <a:solidFill>
                  <a:srgbClr val="272525"/>
                </a:solidFill>
                <a:latin typeface="Inter Bold" pitchFamily="34" charset="0"/>
                <a:ea typeface="Inter Bold" pitchFamily="34" charset="-122"/>
                <a:cs typeface="Inter Bold" pitchFamily="34" charset="-120"/>
              </a:rPr>
              <a:t>네이티브 런타임</a:t>
            </a:r>
            <a:endParaRPr lang="ko-KR" sz="950" dirty="0"/>
          </a:p>
        </p:txBody>
      </p:sp>
      <p:sp>
        <p:nvSpPr>
          <p:cNvPr id="9" name="Text 7"/>
          <p:cNvSpPr/>
          <p:nvPr/>
        </p:nvSpPr>
        <p:spPr>
          <a:xfrm>
            <a:off x="3067571" y="1815926"/>
            <a:ext cx="5908774" cy="198462"/>
          </a:xfrm>
          <a:prstGeom prst="rect">
            <a:avLst/>
          </a:prstGeom>
          <a:noFill/>
          <a:ln/>
        </p:spPr>
        <p:txBody>
          <a:bodyPr wrap="none" lIns="0" tIns="0" rIns="0" bIns="0" rtlCol="0" anchor="t"/>
          <a:lstStyle/>
          <a:p>
            <a:pPr algn="l" indent="0" marL="0">
              <a:lnSpc>
                <a:spcPct val="133000"/>
              </a:lnSpc>
              <a:buNone/>
            </a:pPr>
            <a:r>
              <a:rPr lang="en-US" sz="950" dirty="0">
                <a:solidFill>
                  <a:srgbClr val="272525"/>
                </a:solidFill>
                <a:latin typeface="Inter" pitchFamily="34" charset="0"/>
                <a:ea typeface="Inter" pitchFamily="34" charset="-122"/>
                <a:cs typeface="Inter" pitchFamily="34" charset="-120"/>
              </a:rPr>
              <a:t>Tauri 2 (Rust)</a:t>
            </a:r>
            <a:endParaRPr lang="en-US" sz="950" dirty="0"/>
          </a:p>
        </p:txBody>
      </p:sp>
      <p:sp>
        <p:nvSpPr>
          <p:cNvPr id="10" name="Text 8"/>
          <p:cNvSpPr/>
          <p:nvPr/>
        </p:nvSpPr>
        <p:spPr>
          <a:xfrm>
            <a:off x="624929" y="2177504"/>
            <a:ext cx="2651894" cy="198462"/>
          </a:xfrm>
          <a:prstGeom prst="rect">
            <a:avLst/>
          </a:prstGeom>
          <a:noFill/>
          <a:ln/>
        </p:spPr>
        <p:txBody>
          <a:bodyPr wrap="none" lIns="0" tIns="0" rIns="0" bIns="0" rtlCol="0" anchor="t"/>
          <a:lstStyle/>
          <a:p>
            <a:pPr algn="l" indent="0" marL="0">
              <a:lnSpc>
                <a:spcPct val="133000"/>
              </a:lnSpc>
              <a:buNone/>
            </a:pPr>
            <a:r>
              <a:rPr lang="ko-KR" altLang="en-US" sz="950" b="1" dirty="0">
                <a:solidFill>
                  <a:srgbClr val="272525"/>
                </a:solidFill>
                <a:latin typeface="Inter Bold" pitchFamily="34" charset="0"/>
                <a:ea typeface="Inter Bold" pitchFamily="34" charset="-122"/>
                <a:cs typeface="Inter Bold" pitchFamily="34" charset="-120"/>
              </a:rPr>
              <a:t>전역 단축키</a:t>
            </a:r>
            <a:endParaRPr lang="ko-KR" sz="950" dirty="0"/>
          </a:p>
        </p:txBody>
      </p:sp>
      <p:sp>
        <p:nvSpPr>
          <p:cNvPr id="11" name="Text 9"/>
          <p:cNvSpPr/>
          <p:nvPr/>
        </p:nvSpPr>
        <p:spPr>
          <a:xfrm>
            <a:off x="3067571" y="2177504"/>
            <a:ext cx="5908774" cy="198462"/>
          </a:xfrm>
          <a:prstGeom prst="rect">
            <a:avLst/>
          </a:prstGeom>
          <a:noFill/>
          <a:ln/>
        </p:spPr>
        <p:txBody>
          <a:bodyPr wrap="none" lIns="0" tIns="0" rIns="0" bIns="0" rtlCol="0" anchor="t"/>
          <a:lstStyle/>
          <a:p>
            <a:pPr algn="l" indent="0" marL="0">
              <a:lnSpc>
                <a:spcPct val="133000"/>
              </a:lnSpc>
              <a:buNone/>
            </a:pPr>
            <a:r>
              <a:rPr lang="en-US" sz="950" dirty="0">
                <a:solidFill>
                  <a:srgbClr val="272525"/>
                </a:solidFill>
                <a:latin typeface="Inter" pitchFamily="34" charset="0"/>
                <a:ea typeface="Inter" pitchFamily="34" charset="-122"/>
                <a:cs typeface="Inter" pitchFamily="34" charset="-120"/>
              </a:rPr>
              <a:t>tauri-plugin-global-shortcut</a:t>
            </a:r>
            <a:endParaRPr lang="en-US" sz="950" dirty="0"/>
          </a:p>
        </p:txBody>
      </p:sp>
      <p:sp>
        <p:nvSpPr>
          <p:cNvPr id="12" name="Text 10"/>
          <p:cNvSpPr/>
          <p:nvPr/>
        </p:nvSpPr>
        <p:spPr>
          <a:xfrm>
            <a:off x="624929" y="2539082"/>
            <a:ext cx="2651894" cy="198462"/>
          </a:xfrm>
          <a:prstGeom prst="rect">
            <a:avLst/>
          </a:prstGeom>
          <a:noFill/>
          <a:ln/>
        </p:spPr>
        <p:txBody>
          <a:bodyPr wrap="none" lIns="0" tIns="0" rIns="0" bIns="0" rtlCol="0" anchor="t"/>
          <a:lstStyle/>
          <a:p>
            <a:pPr algn="l" indent="0" marL="0">
              <a:lnSpc>
                <a:spcPct val="133000"/>
              </a:lnSpc>
              <a:buNone/>
            </a:pPr>
            <a:r>
              <a:rPr lang="ko-KR" altLang="en-US" sz="950" b="1" dirty="0">
                <a:solidFill>
                  <a:srgbClr val="272525"/>
                </a:solidFill>
                <a:latin typeface="Inter Bold" pitchFamily="34" charset="0"/>
                <a:ea typeface="Inter Bold" pitchFamily="34" charset="-122"/>
                <a:cs typeface="Inter Bold" pitchFamily="34" charset="-120"/>
              </a:rPr>
              <a:t>macOS 접근성</a:t>
            </a:r>
            <a:endParaRPr lang="ko-KR" sz="950" dirty="0"/>
          </a:p>
        </p:txBody>
      </p:sp>
      <p:sp>
        <p:nvSpPr>
          <p:cNvPr id="13" name="Text 11"/>
          <p:cNvSpPr/>
          <p:nvPr/>
        </p:nvSpPr>
        <p:spPr>
          <a:xfrm>
            <a:off x="3067571" y="2539082"/>
            <a:ext cx="5908774" cy="198462"/>
          </a:xfrm>
          <a:prstGeom prst="rect">
            <a:avLst/>
          </a:prstGeom>
          <a:noFill/>
          <a:ln/>
        </p:spPr>
        <p:txBody>
          <a:bodyPr wrap="none" lIns="0" tIns="0" rIns="0" bIns="0" rtlCol="0" anchor="t"/>
          <a:lstStyle/>
          <a:p>
            <a:pPr algn="l" indent="0" marL="0">
              <a:lnSpc>
                <a:spcPct val="133000"/>
              </a:lnSpc>
              <a:buNone/>
            </a:pPr>
            <a:r>
              <a:rPr lang="en-US" sz="950" dirty="0">
                <a:solidFill>
                  <a:srgbClr val="272525"/>
                </a:solidFill>
                <a:latin typeface="Inter" pitchFamily="34" charset="0"/>
                <a:ea typeface="Inter" pitchFamily="34" charset="-122"/>
                <a:cs typeface="Inter" pitchFamily="34" charset="-120"/>
              </a:rPr>
              <a:t>AXUIElement (Core Foundation / ApplicationServices)</a:t>
            </a:r>
            <a:endParaRPr lang="en-US" sz="950" dirty="0"/>
          </a:p>
        </p:txBody>
      </p:sp>
      <p:sp>
        <p:nvSpPr>
          <p:cNvPr id="14" name="Text 12"/>
          <p:cNvSpPr/>
          <p:nvPr/>
        </p:nvSpPr>
        <p:spPr>
          <a:xfrm>
            <a:off x="624929" y="2900660"/>
            <a:ext cx="2651894" cy="198462"/>
          </a:xfrm>
          <a:prstGeom prst="rect">
            <a:avLst/>
          </a:prstGeom>
          <a:noFill/>
          <a:ln/>
        </p:spPr>
        <p:txBody>
          <a:bodyPr wrap="none" lIns="0" tIns="0" rIns="0" bIns="0" rtlCol="0" anchor="t"/>
          <a:lstStyle/>
          <a:p>
            <a:pPr algn="l" indent="0" marL="0">
              <a:lnSpc>
                <a:spcPct val="133000"/>
              </a:lnSpc>
              <a:buNone/>
            </a:pPr>
            <a:r>
              <a:rPr lang="ko-KR" altLang="en-US" sz="950" b="1" dirty="0">
                <a:solidFill>
                  <a:srgbClr val="272525"/>
                </a:solidFill>
                <a:latin typeface="Inter Bold" pitchFamily="34" charset="0"/>
                <a:ea typeface="Inter Bold" pitchFamily="34" charset="-122"/>
                <a:cs typeface="Inter Bold" pitchFamily="34" charset="-120"/>
              </a:rPr>
              <a:t>Windows 접근성</a:t>
            </a:r>
            <a:endParaRPr lang="ko-KR" sz="950" dirty="0"/>
          </a:p>
        </p:txBody>
      </p:sp>
      <p:sp>
        <p:nvSpPr>
          <p:cNvPr id="15" name="Text 13"/>
          <p:cNvSpPr/>
          <p:nvPr/>
        </p:nvSpPr>
        <p:spPr>
          <a:xfrm>
            <a:off x="3067571" y="2900660"/>
            <a:ext cx="5908774" cy="198462"/>
          </a:xfrm>
          <a:prstGeom prst="rect">
            <a:avLst/>
          </a:prstGeom>
          <a:noFill/>
          <a:ln/>
        </p:spPr>
        <p:txBody>
          <a:bodyPr wrap="none" lIns="0" tIns="0" rIns="0" bIns="0" rtlCol="0" anchor="t"/>
          <a:lstStyle/>
          <a:p>
            <a:pPr algn="l" indent="0" marL="0">
              <a:lnSpc>
                <a:spcPct val="133000"/>
              </a:lnSpc>
              <a:buNone/>
            </a:pPr>
            <a:r>
              <a:rPr lang="en-US" sz="950" dirty="0">
                <a:solidFill>
                  <a:srgbClr val="272525"/>
                </a:solidFill>
                <a:latin typeface="Inter" pitchFamily="34" charset="0"/>
                <a:ea typeface="Inter" pitchFamily="34" charset="-122"/>
                <a:cs typeface="Inter" pitchFamily="34" charset="-120"/>
              </a:rPr>
              <a:t>UI Automation + Clipboard + keybd_event</a:t>
            </a:r>
            <a:endParaRPr lang="en-US" sz="950" dirty="0"/>
          </a:p>
        </p:txBody>
      </p:sp>
      <p:sp>
        <p:nvSpPr>
          <p:cNvPr id="16" name="Text 14"/>
          <p:cNvSpPr/>
          <p:nvPr/>
        </p:nvSpPr>
        <p:spPr>
          <a:xfrm>
            <a:off x="624929" y="3262238"/>
            <a:ext cx="2651894" cy="198462"/>
          </a:xfrm>
          <a:prstGeom prst="rect">
            <a:avLst/>
          </a:prstGeom>
          <a:noFill/>
          <a:ln/>
        </p:spPr>
        <p:txBody>
          <a:bodyPr wrap="none" lIns="0" tIns="0" rIns="0" bIns="0" rtlCol="0" anchor="t"/>
          <a:lstStyle/>
          <a:p>
            <a:pPr algn="l" indent="0" marL="0">
              <a:lnSpc>
                <a:spcPct val="133000"/>
              </a:lnSpc>
              <a:buNone/>
            </a:pPr>
            <a:r>
              <a:rPr lang="ko-KR" altLang="en-US" sz="950" b="1" dirty="0">
                <a:solidFill>
                  <a:srgbClr val="272525"/>
                </a:solidFill>
                <a:latin typeface="Inter Bold" pitchFamily="34" charset="0"/>
                <a:ea typeface="Inter Bold" pitchFamily="34" charset="-122"/>
                <a:cs typeface="Inter Bold" pitchFamily="34" charset="-120"/>
              </a:rPr>
              <a:t>Linux 접근성</a:t>
            </a:r>
            <a:endParaRPr lang="ko-KR" sz="950" dirty="0"/>
          </a:p>
        </p:txBody>
      </p:sp>
      <p:sp>
        <p:nvSpPr>
          <p:cNvPr id="17" name="Text 15"/>
          <p:cNvSpPr/>
          <p:nvPr/>
        </p:nvSpPr>
        <p:spPr>
          <a:xfrm>
            <a:off x="3067571" y="3262238"/>
            <a:ext cx="5908774" cy="198462"/>
          </a:xfrm>
          <a:prstGeom prst="rect">
            <a:avLst/>
          </a:prstGeom>
          <a:noFill/>
          <a:ln/>
        </p:spPr>
        <p:txBody>
          <a:bodyPr wrap="none" lIns="0" tIns="0" rIns="0" bIns="0" rtlCol="0" anchor="t"/>
          <a:lstStyle/>
          <a:p>
            <a:pPr algn="l" indent="0" marL="0">
              <a:lnSpc>
                <a:spcPct val="133000"/>
              </a:lnSpc>
              <a:buNone/>
            </a:pPr>
            <a:r>
              <a:rPr lang="en-US" sz="950" dirty="0">
                <a:solidFill>
                  <a:srgbClr val="272525"/>
                </a:solidFill>
                <a:latin typeface="Inter" pitchFamily="34" charset="0"/>
                <a:ea typeface="Inter" pitchFamily="34" charset="-122"/>
                <a:cs typeface="Inter" pitchFamily="34" charset="-120"/>
              </a:rPr>
              <a:t>xdotool + xclip clipboard fallback</a:t>
            </a:r>
            <a:endParaRPr lang="en-US" sz="950" dirty="0"/>
          </a:p>
        </p:txBody>
      </p:sp>
      <p:sp>
        <p:nvSpPr>
          <p:cNvPr id="18" name="Text 16"/>
          <p:cNvSpPr/>
          <p:nvPr/>
        </p:nvSpPr>
        <p:spPr>
          <a:xfrm>
            <a:off x="624929" y="3623816"/>
            <a:ext cx="2651894" cy="198462"/>
          </a:xfrm>
          <a:prstGeom prst="rect">
            <a:avLst/>
          </a:prstGeom>
          <a:noFill/>
          <a:ln/>
        </p:spPr>
        <p:txBody>
          <a:bodyPr wrap="none" lIns="0" tIns="0" rIns="0" bIns="0" rtlCol="0" anchor="t"/>
          <a:lstStyle/>
          <a:p>
            <a:pPr algn="l" indent="0" marL="0">
              <a:lnSpc>
                <a:spcPct val="133000"/>
              </a:lnSpc>
              <a:buNone/>
            </a:pPr>
            <a:r>
              <a:rPr lang="ko-KR" altLang="en-US" sz="950" b="1" dirty="0">
                <a:solidFill>
                  <a:srgbClr val="272525"/>
                </a:solidFill>
                <a:latin typeface="Inter Bold" pitchFamily="34" charset="0"/>
                <a:ea typeface="Inter Bold" pitchFamily="34" charset="-122"/>
                <a:cs typeface="Inter Bold" pitchFamily="34" charset="-120"/>
              </a:rPr>
              <a:t>상태 관리</a:t>
            </a:r>
            <a:endParaRPr lang="ko-KR" sz="950" dirty="0"/>
          </a:p>
        </p:txBody>
      </p:sp>
      <p:sp>
        <p:nvSpPr>
          <p:cNvPr id="19" name="Text 17"/>
          <p:cNvSpPr/>
          <p:nvPr/>
        </p:nvSpPr>
        <p:spPr>
          <a:xfrm>
            <a:off x="3067571" y="3623816"/>
            <a:ext cx="5908774" cy="198462"/>
          </a:xfrm>
          <a:prstGeom prst="rect">
            <a:avLst/>
          </a:prstGeom>
          <a:noFill/>
          <a:ln/>
        </p:spPr>
        <p:txBody>
          <a:bodyPr wrap="none" lIns="0" tIns="0" rIns="0" bIns="0" rtlCol="0" anchor="t"/>
          <a:lstStyle/>
          <a:p>
            <a:pPr algn="l" indent="0" marL="0">
              <a:lnSpc>
                <a:spcPct val="133000"/>
              </a:lnSpc>
              <a:buNone/>
            </a:pPr>
            <a:r>
              <a:rPr lang="en-US" sz="950" dirty="0">
                <a:solidFill>
                  <a:srgbClr val="272525"/>
                </a:solidFill>
                <a:latin typeface="Inter" pitchFamily="34" charset="0"/>
                <a:ea typeface="Inter" pitchFamily="34" charset="-122"/>
                <a:cs typeface="Inter" pitchFamily="34" charset="-120"/>
              </a:rPr>
              <a:t>React Context API (SettingsContext)</a:t>
            </a:r>
            <a:endParaRPr lang="en-US" sz="950" dirty="0"/>
          </a:p>
        </p:txBody>
      </p:sp>
      <p:sp>
        <p:nvSpPr>
          <p:cNvPr id="20" name="Text 18"/>
          <p:cNvSpPr/>
          <p:nvPr/>
        </p:nvSpPr>
        <p:spPr>
          <a:xfrm>
            <a:off x="624929" y="3985394"/>
            <a:ext cx="2651894" cy="198462"/>
          </a:xfrm>
          <a:prstGeom prst="rect">
            <a:avLst/>
          </a:prstGeom>
          <a:noFill/>
          <a:ln/>
        </p:spPr>
        <p:txBody>
          <a:bodyPr wrap="none" lIns="0" tIns="0" rIns="0" bIns="0" rtlCol="0" anchor="t"/>
          <a:lstStyle/>
          <a:p>
            <a:pPr algn="l" indent="0" marL="0">
              <a:lnSpc>
                <a:spcPct val="133000"/>
              </a:lnSpc>
              <a:buNone/>
            </a:pPr>
            <a:r>
              <a:rPr lang="ko-KR" altLang="en-US" sz="950" b="1" dirty="0">
                <a:solidFill>
                  <a:srgbClr val="272525"/>
                </a:solidFill>
                <a:latin typeface="Inter Bold" pitchFamily="34" charset="0"/>
                <a:ea typeface="Inter Bold" pitchFamily="34" charset="-122"/>
                <a:cs typeface="Inter Bold" pitchFamily="34" charset="-120"/>
              </a:rPr>
              <a:t>설정 저장</a:t>
            </a:r>
            <a:endParaRPr lang="ko-KR" sz="950" dirty="0"/>
          </a:p>
        </p:txBody>
      </p:sp>
      <p:sp>
        <p:nvSpPr>
          <p:cNvPr id="21" name="Text 19"/>
          <p:cNvSpPr/>
          <p:nvPr/>
        </p:nvSpPr>
        <p:spPr>
          <a:xfrm>
            <a:off x="3067571" y="3985394"/>
            <a:ext cx="5908774" cy="198462"/>
          </a:xfrm>
          <a:prstGeom prst="rect">
            <a:avLst/>
          </a:prstGeom>
          <a:noFill/>
          <a:ln/>
        </p:spPr>
        <p:txBody>
          <a:bodyPr wrap="none" lIns="0" tIns="0" rIns="0" bIns="0" rtlCol="0" anchor="t"/>
          <a:lstStyle/>
          <a:p>
            <a:pPr algn="l" indent="0" marL="0">
              <a:lnSpc>
                <a:spcPct val="133000"/>
              </a:lnSpc>
              <a:buNone/>
            </a:pPr>
            <a:r>
              <a:rPr lang="ko-KR" altLang="en-US" sz="950" dirty="0">
                <a:solidFill>
                  <a:srgbClr val="272525"/>
                </a:solidFill>
                <a:latin typeface="Inter" pitchFamily="34" charset="0"/>
                <a:ea typeface="Inter" pitchFamily="34" charset="-122"/>
                <a:cs typeface="Inter" pitchFamily="34" charset="-120"/>
              </a:rPr>
              <a:t>Tauri store (로컬 파일 기반, 앱 재시작 후에도 유지)</a:t>
            </a:r>
            <a:endParaRPr lang="ko-KR" sz="950" dirty="0"/>
          </a:p>
        </p:txBody>
      </p:sp>
      <p:sp>
        <p:nvSpPr>
          <p:cNvPr id="22" name="Text 20"/>
          <p:cNvSpPr/>
          <p:nvPr/>
        </p:nvSpPr>
        <p:spPr>
          <a:xfrm>
            <a:off x="624929" y="4346972"/>
            <a:ext cx="2651894" cy="198462"/>
          </a:xfrm>
          <a:prstGeom prst="rect">
            <a:avLst/>
          </a:prstGeom>
          <a:noFill/>
          <a:ln/>
        </p:spPr>
        <p:txBody>
          <a:bodyPr wrap="none" lIns="0" tIns="0" rIns="0" bIns="0" rtlCol="0" anchor="t"/>
          <a:lstStyle/>
          <a:p>
            <a:pPr algn="l" indent="0" marL="0">
              <a:lnSpc>
                <a:spcPct val="133000"/>
              </a:lnSpc>
              <a:buNone/>
            </a:pPr>
            <a:r>
              <a:rPr lang="ko-KR" altLang="en-US" sz="950" b="1" dirty="0">
                <a:solidFill>
                  <a:srgbClr val="272525"/>
                </a:solidFill>
                <a:latin typeface="Inter Bold" pitchFamily="34" charset="0"/>
                <a:ea typeface="Inter Bold" pitchFamily="34" charset="-122"/>
                <a:cs typeface="Inter Bold" pitchFamily="34" charset="-120"/>
              </a:rPr>
              <a:t>빌드·배포</a:t>
            </a:r>
            <a:endParaRPr lang="ko-KR" sz="950" dirty="0"/>
          </a:p>
        </p:txBody>
      </p:sp>
      <p:sp>
        <p:nvSpPr>
          <p:cNvPr id="23" name="Text 21"/>
          <p:cNvSpPr/>
          <p:nvPr/>
        </p:nvSpPr>
        <p:spPr>
          <a:xfrm>
            <a:off x="3067571" y="4346972"/>
            <a:ext cx="5908774" cy="198462"/>
          </a:xfrm>
          <a:prstGeom prst="rect">
            <a:avLst/>
          </a:prstGeom>
          <a:noFill/>
          <a:ln/>
        </p:spPr>
        <p:txBody>
          <a:bodyPr wrap="none" lIns="0" tIns="0" rIns="0" bIns="0" rtlCol="0" anchor="t"/>
          <a:lstStyle/>
          <a:p>
            <a:pPr algn="l" indent="0" marL="0">
              <a:lnSpc>
                <a:spcPct val="133000"/>
              </a:lnSpc>
              <a:buNone/>
            </a:pPr>
            <a:r>
              <a:rPr lang="en-US" sz="950" dirty="0">
                <a:solidFill>
                  <a:srgbClr val="272525"/>
                </a:solidFill>
                <a:latin typeface="Inter" pitchFamily="34" charset="0"/>
                <a:ea typeface="Inter" pitchFamily="34" charset="-122"/>
                <a:cs typeface="Inter" pitchFamily="34" charset="-120"/>
              </a:rPr>
              <a:t>GitHub Actions CI/CD → .dmg / .msi / .deb / .AppImage</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496119" y="344686"/>
            <a:ext cx="774427" cy="209178"/>
          </a:xfrm>
          <a:prstGeom prst="roundRect">
            <a:avLst>
              <a:gd name="adj" fmla="val 18369"/>
            </a:avLst>
          </a:prstGeom>
          <a:solidFill>
            <a:srgbClr val="DADBF1"/>
          </a:solidFill>
          <a:ln/>
        </p:spPr>
      </p:sp>
      <p:sp>
        <p:nvSpPr>
          <p:cNvPr id="3" name="Text 1"/>
          <p:cNvSpPr/>
          <p:nvPr/>
        </p:nvSpPr>
        <p:spPr>
          <a:xfrm>
            <a:off x="564728" y="378991"/>
            <a:ext cx="1094408" cy="140568"/>
          </a:xfrm>
          <a:prstGeom prst="rect">
            <a:avLst/>
          </a:prstGeom>
          <a:noFill/>
          <a:ln/>
        </p:spPr>
        <p:txBody>
          <a:bodyPr wrap="none" lIns="0" tIns="0" rIns="0" bIns="0" rtlCol="0" anchor="t"/>
          <a:lstStyle/>
          <a:p>
            <a:pPr algn="l" indent="0" marL="0">
              <a:lnSpc>
                <a:spcPct val="128000"/>
              </a:lnSpc>
              <a:buNone/>
            </a:pPr>
            <a:r>
              <a:rPr lang="ko-KR" altLang="en-US" sz="700" dirty="0">
                <a:solidFill>
                  <a:srgbClr val="272525"/>
                </a:solidFill>
                <a:latin typeface="Inter" pitchFamily="34" charset="0"/>
                <a:ea typeface="Inter" pitchFamily="34" charset="-122"/>
                <a:cs typeface="Inter" pitchFamily="34" charset="-120"/>
              </a:rPr>
              <a:t>02 · 데이터 흐름</a:t>
            </a:r>
            <a:endParaRPr lang="ko-KR" sz="700" dirty="0"/>
          </a:p>
        </p:txBody>
      </p:sp>
      <p:sp>
        <p:nvSpPr>
          <p:cNvPr id="4" name="Text 2"/>
          <p:cNvSpPr/>
          <p:nvPr/>
        </p:nvSpPr>
        <p:spPr>
          <a:xfrm>
            <a:off x="496119" y="595982"/>
            <a:ext cx="4217343" cy="357336"/>
          </a:xfrm>
          <a:prstGeom prst="rect">
            <a:avLst/>
          </a:prstGeom>
          <a:noFill/>
          <a:ln/>
        </p:spPr>
        <p:txBody>
          <a:bodyPr wrap="none" lIns="0" tIns="0" rIns="0" bIns="0" rtlCol="0" anchor="t"/>
          <a:lstStyle/>
          <a:p>
            <a:pPr algn="l" indent="0" marL="0">
              <a:lnSpc>
                <a:spcPct val="104000"/>
              </a:lnSpc>
              <a:buNone/>
            </a:pPr>
            <a:r>
              <a:rPr lang="ko-KR" altLang="en-US" sz="2250" b="1" dirty="0">
                <a:solidFill>
                  <a:srgbClr val="000000"/>
                </a:solidFill>
                <a:latin typeface="Inter Bold" pitchFamily="34" charset="0"/>
                <a:ea typeface="Inter Bold" pitchFamily="34" charset="-122"/>
                <a:cs typeface="Inter Bold" pitchFamily="34" charset="-120"/>
              </a:rPr>
              <a:t>텍스트 처리 파이프라인 (8단계)</a:t>
            </a:r>
            <a:endParaRPr lang="ko-KR" sz="2250" dirty="0"/>
          </a:p>
        </p:txBody>
      </p:sp>
      <p:sp>
        <p:nvSpPr>
          <p:cNvPr id="5" name="Text 3"/>
          <p:cNvSpPr/>
          <p:nvPr/>
        </p:nvSpPr>
        <p:spPr>
          <a:xfrm>
            <a:off x="496119" y="1111448"/>
            <a:ext cx="228674" cy="142875"/>
          </a:xfrm>
          <a:prstGeom prst="rect">
            <a:avLst/>
          </a:prstGeom>
          <a:noFill/>
          <a:ln/>
        </p:spPr>
        <p:txBody>
          <a:bodyPr wrap="none" lIns="0" tIns="0" rIns="0" bIns="0" rtlCol="0" anchor="ctr"/>
          <a:lstStyle/>
          <a:p>
            <a:pPr algn="l" indent="0" marL="0">
              <a:lnSpc>
                <a:spcPct val="100000"/>
              </a:lnSpc>
              <a:buNone/>
            </a:pPr>
            <a:r>
              <a:rPr lang="en-US" sz="900" dirty="0">
                <a:solidFill>
                  <a:srgbClr val="272525"/>
                </a:solidFill>
                <a:latin typeface="Inter Light" pitchFamily="34" charset="0"/>
                <a:ea typeface="Inter Light" pitchFamily="34" charset="-122"/>
                <a:cs typeface="Inter Light" pitchFamily="34" charset="-120"/>
              </a:rPr>
              <a:t>01</a:t>
            </a:r>
            <a:endParaRPr lang="en-US" sz="900" dirty="0"/>
          </a:p>
        </p:txBody>
      </p:sp>
      <p:sp>
        <p:nvSpPr>
          <p:cNvPr id="6" name="Shape 4"/>
          <p:cNvSpPr/>
          <p:nvPr/>
        </p:nvSpPr>
        <p:spPr>
          <a:xfrm>
            <a:off x="496119" y="1291456"/>
            <a:ext cx="4023196" cy="14288"/>
          </a:xfrm>
          <a:prstGeom prst="rect">
            <a:avLst/>
          </a:prstGeom>
          <a:solidFill>
            <a:srgbClr val="4950BC"/>
          </a:solidFill>
          <a:ln/>
        </p:spPr>
      </p:sp>
      <p:sp>
        <p:nvSpPr>
          <p:cNvPr id="7" name="Text 5"/>
          <p:cNvSpPr/>
          <p:nvPr/>
        </p:nvSpPr>
        <p:spPr>
          <a:xfrm>
            <a:off x="496119" y="1377181"/>
            <a:ext cx="1429420" cy="178668"/>
          </a:xfrm>
          <a:prstGeom prst="rect">
            <a:avLst/>
          </a:prstGeom>
          <a:noFill/>
          <a:ln/>
        </p:spPr>
        <p:txBody>
          <a:bodyPr wrap="none" lIns="0" tIns="0" rIns="0" bIns="0" rtlCol="0" anchor="t"/>
          <a:lstStyle/>
          <a:p>
            <a:pPr algn="l" indent="0" marL="0">
              <a:lnSpc>
                <a:spcPct val="104000"/>
              </a:lnSpc>
              <a:buNone/>
            </a:pPr>
            <a:r>
              <a:rPr lang="ko-KR" altLang="en-US" sz="1100" b="1" dirty="0">
                <a:solidFill>
                  <a:srgbClr val="272525"/>
                </a:solidFill>
                <a:latin typeface="Inter Bold" pitchFamily="34" charset="0"/>
                <a:ea typeface="Inter Bold" pitchFamily="34" charset="-122"/>
                <a:cs typeface="Inter Bold" pitchFamily="34" charset="-120"/>
              </a:rPr>
              <a:t>단축키 입력 &amp; 디바운싱</a:t>
            </a:r>
            <a:endParaRPr lang="ko-KR" sz="1100" dirty="0"/>
          </a:p>
        </p:txBody>
      </p:sp>
      <p:sp>
        <p:nvSpPr>
          <p:cNvPr id="8" name="Text 6"/>
          <p:cNvSpPr/>
          <p:nvPr/>
        </p:nvSpPr>
        <p:spPr>
          <a:xfrm>
            <a:off x="496119" y="1619101"/>
            <a:ext cx="4023196" cy="175840"/>
          </a:xfrm>
          <a:prstGeom prst="rect">
            <a:avLst/>
          </a:prstGeom>
          <a:noFill/>
          <a:ln/>
        </p:spPr>
        <p:txBody>
          <a:bodyPr wrap="none" lIns="0" tIns="0" rIns="0" bIns="0" rtlCol="0" anchor="t"/>
          <a:lstStyle/>
          <a:p>
            <a:pPr algn="l" indent="0" marL="0">
              <a:lnSpc>
                <a:spcPct val="128000"/>
              </a:lnSpc>
              <a:buNone/>
            </a:pPr>
            <a:r>
              <a:rPr lang="ko-KR" altLang="en-US" sz="900" dirty="0">
                <a:solidFill>
                  <a:srgbClr val="272525"/>
                </a:solidFill>
                <a:latin typeface="Inter" pitchFamily="34" charset="0"/>
                <a:ea typeface="Inter" pitchFamily="34" charset="-122"/>
                <a:cs typeface="Inter" pitchFamily="34" charset="-120"/>
              </a:rPr>
              <a:t>HOTKEY_IN_PROGRESS 플래그로 250ms 디바운싱 처리</a:t>
            </a:r>
            <a:endParaRPr lang="ko-KR" sz="900" dirty="0"/>
          </a:p>
        </p:txBody>
      </p:sp>
      <p:sp>
        <p:nvSpPr>
          <p:cNvPr id="9" name="Text 7"/>
          <p:cNvSpPr/>
          <p:nvPr/>
        </p:nvSpPr>
        <p:spPr>
          <a:xfrm>
            <a:off x="4624685" y="1111448"/>
            <a:ext cx="228674" cy="142875"/>
          </a:xfrm>
          <a:prstGeom prst="rect">
            <a:avLst/>
          </a:prstGeom>
          <a:noFill/>
          <a:ln/>
        </p:spPr>
        <p:txBody>
          <a:bodyPr wrap="none" lIns="0" tIns="0" rIns="0" bIns="0" rtlCol="0" anchor="ctr"/>
          <a:lstStyle/>
          <a:p>
            <a:pPr algn="l" indent="0" marL="0">
              <a:lnSpc>
                <a:spcPct val="100000"/>
              </a:lnSpc>
              <a:buNone/>
            </a:pPr>
            <a:r>
              <a:rPr lang="en-US" sz="900" dirty="0">
                <a:solidFill>
                  <a:srgbClr val="272525"/>
                </a:solidFill>
                <a:latin typeface="Inter Light" pitchFamily="34" charset="0"/>
                <a:ea typeface="Inter Light" pitchFamily="34" charset="-122"/>
                <a:cs typeface="Inter Light" pitchFamily="34" charset="-120"/>
              </a:rPr>
              <a:t>02</a:t>
            </a:r>
            <a:endParaRPr lang="en-US" sz="900" dirty="0"/>
          </a:p>
        </p:txBody>
      </p:sp>
      <p:sp>
        <p:nvSpPr>
          <p:cNvPr id="10" name="Shape 8"/>
          <p:cNvSpPr/>
          <p:nvPr/>
        </p:nvSpPr>
        <p:spPr>
          <a:xfrm>
            <a:off x="4624685" y="1291456"/>
            <a:ext cx="4023196" cy="14288"/>
          </a:xfrm>
          <a:prstGeom prst="rect">
            <a:avLst/>
          </a:prstGeom>
          <a:solidFill>
            <a:srgbClr val="4950BC"/>
          </a:solidFill>
          <a:ln/>
        </p:spPr>
      </p:sp>
      <p:sp>
        <p:nvSpPr>
          <p:cNvPr id="11" name="Text 9"/>
          <p:cNvSpPr/>
          <p:nvPr/>
        </p:nvSpPr>
        <p:spPr>
          <a:xfrm>
            <a:off x="4624685" y="1377181"/>
            <a:ext cx="1547440" cy="178668"/>
          </a:xfrm>
          <a:prstGeom prst="rect">
            <a:avLst/>
          </a:prstGeom>
          <a:noFill/>
          <a:ln/>
        </p:spPr>
        <p:txBody>
          <a:bodyPr wrap="none" lIns="0" tIns="0" rIns="0" bIns="0" rtlCol="0" anchor="t"/>
          <a:lstStyle/>
          <a:p>
            <a:pPr algn="l" indent="0" marL="0">
              <a:lnSpc>
                <a:spcPct val="104000"/>
              </a:lnSpc>
              <a:buNone/>
            </a:pPr>
            <a:r>
              <a:rPr lang="ko-KR" altLang="en-US" sz="1100" b="1" dirty="0">
                <a:solidFill>
                  <a:srgbClr val="272525"/>
                </a:solidFill>
                <a:latin typeface="Inter Bold" pitchFamily="34" charset="0"/>
                <a:ea typeface="Inter Bold" pitchFamily="34" charset="-122"/>
                <a:cs typeface="Inter Bold" pitchFamily="34" charset="-120"/>
              </a:rPr>
              <a:t>소스 앱 포어그라운드 복원</a:t>
            </a:r>
            <a:endParaRPr lang="ko-KR" sz="1100" dirty="0"/>
          </a:p>
        </p:txBody>
      </p:sp>
      <p:sp>
        <p:nvSpPr>
          <p:cNvPr id="12" name="Text 10"/>
          <p:cNvSpPr/>
          <p:nvPr/>
        </p:nvSpPr>
        <p:spPr>
          <a:xfrm>
            <a:off x="4624685" y="1619101"/>
            <a:ext cx="4023196" cy="175840"/>
          </a:xfrm>
          <a:prstGeom prst="rect">
            <a:avLst/>
          </a:prstGeom>
          <a:noFill/>
          <a:ln/>
        </p:spPr>
        <p:txBody>
          <a:bodyPr wrap="none" lIns="0" tIns="0" rIns="0" bIns="0" rtlCol="0" anchor="t"/>
          <a:lstStyle/>
          <a:p>
            <a:pPr algn="l" indent="0" marL="0">
              <a:lnSpc>
                <a:spcPct val="128000"/>
              </a:lnSpc>
              <a:buNone/>
            </a:pPr>
            <a:r>
              <a:rPr lang="ko-KR" altLang="en-US" sz="900" dirty="0">
                <a:solidFill>
                  <a:srgbClr val="272525"/>
                </a:solidFill>
                <a:latin typeface="Inter" pitchFamily="34" charset="0"/>
                <a:ea typeface="Inter" pitchFamily="34" charset="-122"/>
                <a:cs typeface="Inter" pitchFamily="34" charset="-120"/>
              </a:rPr>
              <a:t>Rust: restore_source_app() → 40ms 대기</a:t>
            </a:r>
            <a:endParaRPr lang="ko-KR" sz="900" dirty="0"/>
          </a:p>
        </p:txBody>
      </p:sp>
      <p:sp>
        <p:nvSpPr>
          <p:cNvPr id="13" name="Text 11"/>
          <p:cNvSpPr/>
          <p:nvPr/>
        </p:nvSpPr>
        <p:spPr>
          <a:xfrm>
            <a:off x="496119" y="1986037"/>
            <a:ext cx="228674" cy="142875"/>
          </a:xfrm>
          <a:prstGeom prst="rect">
            <a:avLst/>
          </a:prstGeom>
          <a:noFill/>
          <a:ln/>
        </p:spPr>
        <p:txBody>
          <a:bodyPr wrap="none" lIns="0" tIns="0" rIns="0" bIns="0" rtlCol="0" anchor="ctr"/>
          <a:lstStyle/>
          <a:p>
            <a:pPr algn="l" indent="0" marL="0">
              <a:lnSpc>
                <a:spcPct val="100000"/>
              </a:lnSpc>
              <a:buNone/>
            </a:pPr>
            <a:r>
              <a:rPr lang="en-US" sz="900" dirty="0">
                <a:solidFill>
                  <a:srgbClr val="272525"/>
                </a:solidFill>
                <a:latin typeface="Inter Light" pitchFamily="34" charset="0"/>
                <a:ea typeface="Inter Light" pitchFamily="34" charset="-122"/>
                <a:cs typeface="Inter Light" pitchFamily="34" charset="-120"/>
              </a:rPr>
              <a:t>03</a:t>
            </a:r>
            <a:endParaRPr lang="en-US" sz="900" dirty="0"/>
          </a:p>
        </p:txBody>
      </p:sp>
      <p:sp>
        <p:nvSpPr>
          <p:cNvPr id="14" name="Shape 12"/>
          <p:cNvSpPr/>
          <p:nvPr/>
        </p:nvSpPr>
        <p:spPr>
          <a:xfrm>
            <a:off x="496119" y="2166045"/>
            <a:ext cx="4023196" cy="14288"/>
          </a:xfrm>
          <a:prstGeom prst="rect">
            <a:avLst/>
          </a:prstGeom>
          <a:solidFill>
            <a:srgbClr val="4950BC"/>
          </a:solidFill>
          <a:ln/>
        </p:spPr>
      </p:sp>
      <p:sp>
        <p:nvSpPr>
          <p:cNvPr id="15" name="Text 13"/>
          <p:cNvSpPr/>
          <p:nvPr/>
        </p:nvSpPr>
        <p:spPr>
          <a:xfrm>
            <a:off x="496119" y="2251770"/>
            <a:ext cx="1429420" cy="178668"/>
          </a:xfrm>
          <a:prstGeom prst="rect">
            <a:avLst/>
          </a:prstGeom>
          <a:noFill/>
          <a:ln/>
        </p:spPr>
        <p:txBody>
          <a:bodyPr wrap="none" lIns="0" tIns="0" rIns="0" bIns="0" rtlCol="0" anchor="t"/>
          <a:lstStyle/>
          <a:p>
            <a:pPr algn="l" indent="0" marL="0">
              <a:lnSpc>
                <a:spcPct val="104000"/>
              </a:lnSpc>
              <a:buNone/>
            </a:pPr>
            <a:r>
              <a:rPr lang="ko-KR" altLang="en-US" sz="1100" b="1" dirty="0">
                <a:solidFill>
                  <a:srgbClr val="272525"/>
                </a:solidFill>
                <a:latin typeface="Inter Bold" pitchFamily="34" charset="0"/>
                <a:ea typeface="Inter Bold" pitchFamily="34" charset="-122"/>
                <a:cs typeface="Inter Bold" pitchFamily="34" charset="-120"/>
              </a:rPr>
              <a:t>선택 텍스트 캡처</a:t>
            </a:r>
            <a:endParaRPr lang="ko-KR" sz="1100" dirty="0"/>
          </a:p>
        </p:txBody>
      </p:sp>
      <p:sp>
        <p:nvSpPr>
          <p:cNvPr id="16" name="Text 14"/>
          <p:cNvSpPr/>
          <p:nvPr/>
        </p:nvSpPr>
        <p:spPr>
          <a:xfrm>
            <a:off x="496119" y="2493690"/>
            <a:ext cx="4023196" cy="175840"/>
          </a:xfrm>
          <a:prstGeom prst="rect">
            <a:avLst/>
          </a:prstGeom>
          <a:noFill/>
          <a:ln/>
        </p:spPr>
        <p:txBody>
          <a:bodyPr wrap="none" lIns="0" tIns="0" rIns="0" bIns="0" rtlCol="0" anchor="t"/>
          <a:lstStyle/>
          <a:p>
            <a:pPr algn="l" indent="0" marL="0">
              <a:lnSpc>
                <a:spcPct val="128000"/>
              </a:lnSpc>
              <a:buNone/>
            </a:pPr>
            <a:r>
              <a:rPr lang="ko-KR" altLang="en-US" sz="900" dirty="0">
                <a:solidFill>
                  <a:srgbClr val="272525"/>
                </a:solidFill>
                <a:latin typeface="Inter" pitchFamily="34" charset="0"/>
                <a:ea typeface="Inter" pitchFamily="34" charset="-122"/>
                <a:cs typeface="Inter" pitchFamily="34" charset="-120"/>
              </a:rPr>
              <a:t>접근성 API 1차 시도, 실패 시 최대 4회 retry (120→180→260→340ms)</a:t>
            </a:r>
            <a:endParaRPr lang="ko-KR" sz="900" dirty="0"/>
          </a:p>
        </p:txBody>
      </p:sp>
      <p:sp>
        <p:nvSpPr>
          <p:cNvPr id="17" name="Text 15"/>
          <p:cNvSpPr/>
          <p:nvPr/>
        </p:nvSpPr>
        <p:spPr>
          <a:xfrm>
            <a:off x="4624685" y="1986037"/>
            <a:ext cx="228674" cy="142875"/>
          </a:xfrm>
          <a:prstGeom prst="rect">
            <a:avLst/>
          </a:prstGeom>
          <a:noFill/>
          <a:ln/>
        </p:spPr>
        <p:txBody>
          <a:bodyPr wrap="none" lIns="0" tIns="0" rIns="0" bIns="0" rtlCol="0" anchor="ctr"/>
          <a:lstStyle/>
          <a:p>
            <a:pPr algn="l" indent="0" marL="0">
              <a:lnSpc>
                <a:spcPct val="100000"/>
              </a:lnSpc>
              <a:buNone/>
            </a:pPr>
            <a:r>
              <a:rPr lang="en-US" sz="900" dirty="0">
                <a:solidFill>
                  <a:srgbClr val="272525"/>
                </a:solidFill>
                <a:latin typeface="Inter Light" pitchFamily="34" charset="0"/>
                <a:ea typeface="Inter Light" pitchFamily="34" charset="-122"/>
                <a:cs typeface="Inter Light" pitchFamily="34" charset="-120"/>
              </a:rPr>
              <a:t>04</a:t>
            </a:r>
            <a:endParaRPr lang="en-US" sz="900" dirty="0"/>
          </a:p>
        </p:txBody>
      </p:sp>
      <p:sp>
        <p:nvSpPr>
          <p:cNvPr id="18" name="Shape 16"/>
          <p:cNvSpPr/>
          <p:nvPr/>
        </p:nvSpPr>
        <p:spPr>
          <a:xfrm>
            <a:off x="4624685" y="2166045"/>
            <a:ext cx="4023196" cy="14288"/>
          </a:xfrm>
          <a:prstGeom prst="rect">
            <a:avLst/>
          </a:prstGeom>
          <a:solidFill>
            <a:srgbClr val="4950BC"/>
          </a:solidFill>
          <a:ln/>
        </p:spPr>
      </p:sp>
      <p:sp>
        <p:nvSpPr>
          <p:cNvPr id="19" name="Text 17"/>
          <p:cNvSpPr/>
          <p:nvPr/>
        </p:nvSpPr>
        <p:spPr>
          <a:xfrm>
            <a:off x="4624685" y="2251770"/>
            <a:ext cx="1429420" cy="178668"/>
          </a:xfrm>
          <a:prstGeom prst="rect">
            <a:avLst/>
          </a:prstGeom>
          <a:noFill/>
          <a:ln/>
        </p:spPr>
        <p:txBody>
          <a:bodyPr wrap="none" lIns="0" tIns="0" rIns="0" bIns="0" rtlCol="0" anchor="t"/>
          <a:lstStyle/>
          <a:p>
            <a:pPr algn="l" indent="0" marL="0">
              <a:lnSpc>
                <a:spcPct val="104000"/>
              </a:lnSpc>
              <a:buNone/>
            </a:pPr>
            <a:r>
              <a:rPr lang="ko-KR" altLang="en-US" sz="1100" b="1" dirty="0">
                <a:solidFill>
                  <a:srgbClr val="272525"/>
                </a:solidFill>
                <a:latin typeface="Inter Bold" pitchFamily="34" charset="0"/>
                <a:ea typeface="Inter Bold" pitchFamily="34" charset="-122"/>
                <a:cs typeface="Inter Bold" pitchFamily="34" charset="-120"/>
              </a:rPr>
              <a:t>IPC 이벤트 전송</a:t>
            </a:r>
            <a:endParaRPr lang="ko-KR" sz="1100" dirty="0"/>
          </a:p>
        </p:txBody>
      </p:sp>
      <p:sp>
        <p:nvSpPr>
          <p:cNvPr id="20" name="Text 18"/>
          <p:cNvSpPr/>
          <p:nvPr/>
        </p:nvSpPr>
        <p:spPr>
          <a:xfrm>
            <a:off x="4624685" y="2493690"/>
            <a:ext cx="4023196" cy="175840"/>
          </a:xfrm>
          <a:prstGeom prst="rect">
            <a:avLst/>
          </a:prstGeom>
          <a:noFill/>
          <a:ln/>
        </p:spPr>
        <p:txBody>
          <a:bodyPr wrap="none" lIns="0" tIns="0" rIns="0" bIns="0" rtlCol="0" anchor="t"/>
          <a:lstStyle/>
          <a:p>
            <a:pPr algn="l" indent="0" marL="0">
              <a:lnSpc>
                <a:spcPct val="128000"/>
              </a:lnSpc>
              <a:buNone/>
            </a:pPr>
            <a:r>
              <a:rPr lang="ko-KR" altLang="en-US" sz="900" dirty="0">
                <a:solidFill>
                  <a:srgbClr val="272525"/>
                </a:solidFill>
                <a:latin typeface="Inter" pitchFamily="34" charset="0"/>
                <a:ea typeface="Inter" pitchFamily="34" charset="-122"/>
                <a:cs typeface="Inter" pitchFamily="34" charset="-120"/>
              </a:rPr>
              <a:t>SelectionPayload { text, source } 프론트엔드로 emit</a:t>
            </a:r>
            <a:endParaRPr lang="ko-KR" sz="900" dirty="0"/>
          </a:p>
        </p:txBody>
      </p:sp>
      <p:sp>
        <p:nvSpPr>
          <p:cNvPr id="21" name="Text 19"/>
          <p:cNvSpPr/>
          <p:nvPr/>
        </p:nvSpPr>
        <p:spPr>
          <a:xfrm>
            <a:off x="496119" y="2860625"/>
            <a:ext cx="228674" cy="142875"/>
          </a:xfrm>
          <a:prstGeom prst="rect">
            <a:avLst/>
          </a:prstGeom>
          <a:noFill/>
          <a:ln/>
        </p:spPr>
        <p:txBody>
          <a:bodyPr wrap="none" lIns="0" tIns="0" rIns="0" bIns="0" rtlCol="0" anchor="ctr"/>
          <a:lstStyle/>
          <a:p>
            <a:pPr algn="l" indent="0" marL="0">
              <a:lnSpc>
                <a:spcPct val="100000"/>
              </a:lnSpc>
              <a:buNone/>
            </a:pPr>
            <a:r>
              <a:rPr lang="en-US" sz="900" dirty="0">
                <a:solidFill>
                  <a:srgbClr val="272525"/>
                </a:solidFill>
                <a:latin typeface="Inter Light" pitchFamily="34" charset="0"/>
                <a:ea typeface="Inter Light" pitchFamily="34" charset="-122"/>
                <a:cs typeface="Inter Light" pitchFamily="34" charset="-120"/>
              </a:rPr>
              <a:t>05</a:t>
            </a:r>
            <a:endParaRPr lang="en-US" sz="900" dirty="0"/>
          </a:p>
        </p:txBody>
      </p:sp>
      <p:sp>
        <p:nvSpPr>
          <p:cNvPr id="22" name="Shape 20"/>
          <p:cNvSpPr/>
          <p:nvPr/>
        </p:nvSpPr>
        <p:spPr>
          <a:xfrm>
            <a:off x="496119" y="3040633"/>
            <a:ext cx="4023196" cy="14288"/>
          </a:xfrm>
          <a:prstGeom prst="rect">
            <a:avLst/>
          </a:prstGeom>
          <a:solidFill>
            <a:srgbClr val="4950BC"/>
          </a:solidFill>
          <a:ln/>
        </p:spPr>
      </p:sp>
      <p:sp>
        <p:nvSpPr>
          <p:cNvPr id="23" name="Text 21"/>
          <p:cNvSpPr/>
          <p:nvPr/>
        </p:nvSpPr>
        <p:spPr>
          <a:xfrm>
            <a:off x="496119" y="3126358"/>
            <a:ext cx="1429420" cy="178668"/>
          </a:xfrm>
          <a:prstGeom prst="rect">
            <a:avLst/>
          </a:prstGeom>
          <a:noFill/>
          <a:ln/>
        </p:spPr>
        <p:txBody>
          <a:bodyPr wrap="none" lIns="0" tIns="0" rIns="0" bIns="0" rtlCol="0" anchor="t"/>
          <a:lstStyle/>
          <a:p>
            <a:pPr algn="l" indent="0" marL="0">
              <a:lnSpc>
                <a:spcPct val="104000"/>
              </a:lnSpc>
              <a:buNone/>
            </a:pPr>
            <a:r>
              <a:rPr lang="ko-KR" altLang="en-US" sz="1100" b="1" dirty="0">
                <a:solidFill>
                  <a:srgbClr val="272525"/>
                </a:solidFill>
                <a:latin typeface="Inter Bold" pitchFamily="34" charset="0"/>
                <a:ea typeface="Inter Bold" pitchFamily="34" charset="-122"/>
                <a:cs typeface="Inter Bold" pitchFamily="34" charset="-120"/>
              </a:rPr>
              <a:t>플로팅 메뉴 렌더링</a:t>
            </a:r>
            <a:endParaRPr lang="ko-KR" sz="1100" dirty="0"/>
          </a:p>
        </p:txBody>
      </p:sp>
      <p:sp>
        <p:nvSpPr>
          <p:cNvPr id="24" name="Text 22"/>
          <p:cNvSpPr/>
          <p:nvPr/>
        </p:nvSpPr>
        <p:spPr>
          <a:xfrm>
            <a:off x="496119" y="3368278"/>
            <a:ext cx="4023196" cy="175840"/>
          </a:xfrm>
          <a:prstGeom prst="rect">
            <a:avLst/>
          </a:prstGeom>
          <a:noFill/>
          <a:ln/>
        </p:spPr>
        <p:txBody>
          <a:bodyPr wrap="none" lIns="0" tIns="0" rIns="0" bIns="0" rtlCol="0" anchor="t"/>
          <a:lstStyle/>
          <a:p>
            <a:pPr algn="l" indent="0" marL="0">
              <a:lnSpc>
                <a:spcPct val="128000"/>
              </a:lnSpc>
              <a:buNone/>
            </a:pPr>
            <a:r>
              <a:rPr lang="ko-KR" altLang="en-US" sz="900" dirty="0">
                <a:solidFill>
                  <a:srgbClr val="272525"/>
                </a:solidFill>
                <a:latin typeface="Inter" pitchFamily="34" charset="0"/>
                <a:ea typeface="Inter" pitchFamily="34" charset="-122"/>
                <a:cs typeface="Inter" pitchFamily="34" charset="-120"/>
              </a:rPr>
              <a:t>마우스 좌표 기준 팝업 표시</a:t>
            </a:r>
            <a:endParaRPr lang="ko-KR" sz="900" dirty="0"/>
          </a:p>
        </p:txBody>
      </p:sp>
      <p:sp>
        <p:nvSpPr>
          <p:cNvPr id="25" name="Text 23"/>
          <p:cNvSpPr/>
          <p:nvPr/>
        </p:nvSpPr>
        <p:spPr>
          <a:xfrm>
            <a:off x="4624685" y="2860625"/>
            <a:ext cx="228674" cy="142875"/>
          </a:xfrm>
          <a:prstGeom prst="rect">
            <a:avLst/>
          </a:prstGeom>
          <a:noFill/>
          <a:ln/>
        </p:spPr>
        <p:txBody>
          <a:bodyPr wrap="none" lIns="0" tIns="0" rIns="0" bIns="0" rtlCol="0" anchor="ctr"/>
          <a:lstStyle/>
          <a:p>
            <a:pPr algn="l" indent="0" marL="0">
              <a:lnSpc>
                <a:spcPct val="100000"/>
              </a:lnSpc>
              <a:buNone/>
            </a:pPr>
            <a:r>
              <a:rPr lang="en-US" sz="900" dirty="0">
                <a:solidFill>
                  <a:srgbClr val="272525"/>
                </a:solidFill>
                <a:latin typeface="Inter Light" pitchFamily="34" charset="0"/>
                <a:ea typeface="Inter Light" pitchFamily="34" charset="-122"/>
                <a:cs typeface="Inter Light" pitchFamily="34" charset="-120"/>
              </a:rPr>
              <a:t>06</a:t>
            </a:r>
            <a:endParaRPr lang="en-US" sz="900" dirty="0"/>
          </a:p>
        </p:txBody>
      </p:sp>
      <p:sp>
        <p:nvSpPr>
          <p:cNvPr id="26" name="Shape 24"/>
          <p:cNvSpPr/>
          <p:nvPr/>
        </p:nvSpPr>
        <p:spPr>
          <a:xfrm>
            <a:off x="4624685" y="3040633"/>
            <a:ext cx="4023196" cy="14288"/>
          </a:xfrm>
          <a:prstGeom prst="rect">
            <a:avLst/>
          </a:prstGeom>
          <a:solidFill>
            <a:srgbClr val="4950BC"/>
          </a:solidFill>
          <a:ln/>
        </p:spPr>
      </p:sp>
      <p:sp>
        <p:nvSpPr>
          <p:cNvPr id="27" name="Text 25"/>
          <p:cNvSpPr/>
          <p:nvPr/>
        </p:nvSpPr>
        <p:spPr>
          <a:xfrm>
            <a:off x="4624685" y="3126358"/>
            <a:ext cx="1545803" cy="178668"/>
          </a:xfrm>
          <a:prstGeom prst="rect">
            <a:avLst/>
          </a:prstGeom>
          <a:noFill/>
          <a:ln/>
        </p:spPr>
        <p:txBody>
          <a:bodyPr wrap="none" lIns="0" tIns="0" rIns="0" bIns="0" rtlCol="0" anchor="t"/>
          <a:lstStyle/>
          <a:p>
            <a:pPr algn="l" indent="0" marL="0">
              <a:lnSpc>
                <a:spcPct val="104000"/>
              </a:lnSpc>
              <a:buNone/>
            </a:pPr>
            <a:r>
              <a:rPr lang="ko-KR" altLang="en-US" sz="1100" b="1" dirty="0">
                <a:solidFill>
                  <a:srgbClr val="272525"/>
                </a:solidFill>
                <a:latin typeface="Inter Bold" pitchFamily="34" charset="0"/>
                <a:ea typeface="Inter Bold" pitchFamily="34" charset="-122"/>
                <a:cs typeface="Inter Bold" pitchFamily="34" charset="-120"/>
              </a:rPr>
              <a:t>프롬프트 선택 &amp; 요청 생성</a:t>
            </a:r>
            <a:endParaRPr lang="ko-KR" sz="1100" dirty="0"/>
          </a:p>
        </p:txBody>
      </p:sp>
      <p:sp>
        <p:nvSpPr>
          <p:cNvPr id="28" name="Text 26"/>
          <p:cNvSpPr/>
          <p:nvPr/>
        </p:nvSpPr>
        <p:spPr>
          <a:xfrm>
            <a:off x="4624685" y="3368278"/>
            <a:ext cx="4023196" cy="175840"/>
          </a:xfrm>
          <a:prstGeom prst="rect">
            <a:avLst/>
          </a:prstGeom>
          <a:noFill/>
          <a:ln/>
        </p:spPr>
        <p:txBody>
          <a:bodyPr wrap="none" lIns="0" tIns="0" rIns="0" bIns="0" rtlCol="0" anchor="t"/>
          <a:lstStyle/>
          <a:p>
            <a:pPr algn="l" indent="0" marL="0">
              <a:lnSpc>
                <a:spcPct val="128000"/>
              </a:lnSpc>
              <a:buNone/>
            </a:pPr>
            <a:r>
              <a:rPr lang="ko-KR" altLang="en-US" sz="900" dirty="0">
                <a:solidFill>
                  <a:srgbClr val="272525"/>
                </a:solidFill>
                <a:latin typeface="Inter" pitchFamily="34" charset="0"/>
                <a:ea typeface="Inter" pitchFamily="34" charset="-122"/>
                <a:cs typeface="Inter" pitchFamily="34" charset="-120"/>
              </a:rPr>
              <a:t>프리셋/자유 프롬프트 → provider.buildRequest()</a:t>
            </a:r>
            <a:endParaRPr lang="ko-KR" sz="900" dirty="0"/>
          </a:p>
        </p:txBody>
      </p:sp>
      <p:sp>
        <p:nvSpPr>
          <p:cNvPr id="29" name="Text 27"/>
          <p:cNvSpPr/>
          <p:nvPr/>
        </p:nvSpPr>
        <p:spPr>
          <a:xfrm>
            <a:off x="496119" y="3735214"/>
            <a:ext cx="228674" cy="142875"/>
          </a:xfrm>
          <a:prstGeom prst="rect">
            <a:avLst/>
          </a:prstGeom>
          <a:noFill/>
          <a:ln/>
        </p:spPr>
        <p:txBody>
          <a:bodyPr wrap="none" lIns="0" tIns="0" rIns="0" bIns="0" rtlCol="0" anchor="ctr"/>
          <a:lstStyle/>
          <a:p>
            <a:pPr algn="l" indent="0" marL="0">
              <a:lnSpc>
                <a:spcPct val="100000"/>
              </a:lnSpc>
              <a:buNone/>
            </a:pPr>
            <a:r>
              <a:rPr lang="en-US" sz="900" dirty="0">
                <a:solidFill>
                  <a:srgbClr val="272525"/>
                </a:solidFill>
                <a:latin typeface="Inter Light" pitchFamily="34" charset="0"/>
                <a:ea typeface="Inter Light" pitchFamily="34" charset="-122"/>
                <a:cs typeface="Inter Light" pitchFamily="34" charset="-120"/>
              </a:rPr>
              <a:t>07</a:t>
            </a:r>
            <a:endParaRPr lang="en-US" sz="900" dirty="0"/>
          </a:p>
        </p:txBody>
      </p:sp>
      <p:sp>
        <p:nvSpPr>
          <p:cNvPr id="30" name="Shape 28"/>
          <p:cNvSpPr/>
          <p:nvPr/>
        </p:nvSpPr>
        <p:spPr>
          <a:xfrm>
            <a:off x="496119" y="3915221"/>
            <a:ext cx="8151763" cy="14288"/>
          </a:xfrm>
          <a:prstGeom prst="rect">
            <a:avLst/>
          </a:prstGeom>
          <a:solidFill>
            <a:srgbClr val="4950BC"/>
          </a:solidFill>
          <a:ln/>
        </p:spPr>
      </p:sp>
      <p:sp>
        <p:nvSpPr>
          <p:cNvPr id="31" name="Text 29"/>
          <p:cNvSpPr/>
          <p:nvPr/>
        </p:nvSpPr>
        <p:spPr>
          <a:xfrm>
            <a:off x="496119" y="4000946"/>
            <a:ext cx="1429420" cy="178668"/>
          </a:xfrm>
          <a:prstGeom prst="rect">
            <a:avLst/>
          </a:prstGeom>
          <a:noFill/>
          <a:ln/>
        </p:spPr>
        <p:txBody>
          <a:bodyPr wrap="none" lIns="0" tIns="0" rIns="0" bIns="0" rtlCol="0" anchor="t"/>
          <a:lstStyle/>
          <a:p>
            <a:pPr algn="l" indent="0" marL="0">
              <a:lnSpc>
                <a:spcPct val="104000"/>
              </a:lnSpc>
              <a:buNone/>
            </a:pPr>
            <a:r>
              <a:rPr lang="ko-KR" altLang="en-US" sz="1100" b="1" dirty="0">
                <a:solidFill>
                  <a:srgbClr val="272525"/>
                </a:solidFill>
                <a:latin typeface="Inter Bold" pitchFamily="34" charset="0"/>
                <a:ea typeface="Inter Bold" pitchFamily="34" charset="-122"/>
                <a:cs typeface="Inter Bold" pitchFamily="34" charset="-120"/>
              </a:rPr>
              <a:t>원위치 자동 삽입</a:t>
            </a:r>
            <a:endParaRPr lang="ko-KR" sz="1100" dirty="0"/>
          </a:p>
        </p:txBody>
      </p:sp>
      <p:sp>
        <p:nvSpPr>
          <p:cNvPr id="32" name="Text 30"/>
          <p:cNvSpPr/>
          <p:nvPr/>
        </p:nvSpPr>
        <p:spPr>
          <a:xfrm>
            <a:off x="496119" y="4242867"/>
            <a:ext cx="8151763" cy="175840"/>
          </a:xfrm>
          <a:prstGeom prst="rect">
            <a:avLst/>
          </a:prstGeom>
          <a:noFill/>
          <a:ln/>
        </p:spPr>
        <p:txBody>
          <a:bodyPr wrap="none" lIns="0" tIns="0" rIns="0" bIns="0" rtlCol="0" anchor="t"/>
          <a:lstStyle/>
          <a:p>
            <a:pPr algn="l" indent="0" marL="0">
              <a:lnSpc>
                <a:spcPct val="128000"/>
              </a:lnSpc>
              <a:buNone/>
            </a:pPr>
            <a:r>
              <a:rPr lang="ko-KR" altLang="en-US" sz="900" dirty="0">
                <a:solidFill>
                  <a:srgbClr val="272525"/>
                </a:solidFill>
                <a:latin typeface="Inter" pitchFamily="34" charset="0"/>
                <a:ea typeface="Inter" pitchFamily="34" charset="-122"/>
                <a:cs typeface="Inter" pitchFamily="34" charset="-120"/>
              </a:rPr>
              <a:t>Tauri IPC → OS 접근성 API 삽입 → 메뉴 닫힘</a:t>
            </a:r>
            <a:endParaRPr lang="ko-KR" sz="900" dirty="0"/>
          </a:p>
        </p:txBody>
      </p:sp>
      <p:sp>
        <p:nvSpPr>
          <p:cNvPr id="33" name="Text 31"/>
          <p:cNvSpPr/>
          <p:nvPr/>
        </p:nvSpPr>
        <p:spPr>
          <a:xfrm>
            <a:off x="496119" y="4622974"/>
            <a:ext cx="8608963" cy="175840"/>
          </a:xfrm>
          <a:prstGeom prst="rect">
            <a:avLst/>
          </a:prstGeom>
          <a:noFill/>
          <a:ln/>
        </p:spPr>
        <p:txBody>
          <a:bodyPr wrap="none" lIns="0" tIns="0" rIns="0" bIns="0" rtlCol="0" anchor="t"/>
          <a:lstStyle/>
          <a:p>
            <a:pPr algn="l" indent="0" marL="0">
              <a:lnSpc>
                <a:spcPct val="128000"/>
              </a:lnSpc>
              <a:buNone/>
            </a:pPr>
            <a:r>
              <a:rPr lang="ko-KR" altLang="en-US" sz="900" dirty="0">
                <a:solidFill>
                  <a:srgbClr val="272525"/>
                </a:solidFill>
                <a:latin typeface="Inter" pitchFamily="34" charset="0"/>
                <a:ea typeface="Inter" pitchFamily="34" charset="-122"/>
                <a:cs typeface="Inter" pitchFamily="34" charset="-120"/>
              </a:rPr>
              <a:t>전체 파이프라인은 평균 2초 이내에 첫 번째 AI 토큰을 표시하며, 각 단계에서 오류 발생 시 폴백 메커니즘이 자동 활성화됩니다.</a:t>
            </a:r>
            <a:endParaRPr lang="ko-KR"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496119" y="1334988"/>
            <a:ext cx="539576" cy="233214"/>
          </a:xfrm>
          <a:prstGeom prst="roundRect">
            <a:avLst>
              <a:gd name="adj" fmla="val 17872"/>
            </a:avLst>
          </a:prstGeom>
          <a:solidFill>
            <a:srgbClr val="DADBF1"/>
          </a:solidFill>
          <a:ln/>
        </p:spPr>
      </p:sp>
      <p:sp>
        <p:nvSpPr>
          <p:cNvPr id="3" name="Text 1"/>
          <p:cNvSpPr/>
          <p:nvPr/>
        </p:nvSpPr>
        <p:spPr>
          <a:xfrm>
            <a:off x="570533" y="1372195"/>
            <a:ext cx="847948" cy="158800"/>
          </a:xfrm>
          <a:prstGeom prst="rect">
            <a:avLst/>
          </a:prstGeom>
          <a:noFill/>
          <a:ln/>
        </p:spPr>
        <p:txBody>
          <a:bodyPr wrap="none" lIns="0" tIns="0" rIns="0" bIns="0" rtlCol="0" anchor="t"/>
          <a:lstStyle/>
          <a:p>
            <a:pPr algn="l" indent="0" marL="0">
              <a:lnSpc>
                <a:spcPct val="133000"/>
              </a:lnSpc>
              <a:buNone/>
            </a:pPr>
            <a:r>
              <a:rPr lang="ko-KR" altLang="en-US" sz="750" dirty="0">
                <a:solidFill>
                  <a:srgbClr val="272525"/>
                </a:solidFill>
                <a:latin typeface="Inter" pitchFamily="34" charset="0"/>
                <a:ea typeface="Inter" pitchFamily="34" charset="-122"/>
                <a:cs typeface="Inter" pitchFamily="34" charset="-120"/>
              </a:rPr>
              <a:t>03 · 기능</a:t>
            </a:r>
            <a:endParaRPr lang="ko-KR" sz="750" dirty="0"/>
          </a:p>
        </p:txBody>
      </p:sp>
      <p:sp>
        <p:nvSpPr>
          <p:cNvPr id="4" name="Text 2"/>
          <p:cNvSpPr/>
          <p:nvPr/>
        </p:nvSpPr>
        <p:spPr>
          <a:xfrm>
            <a:off x="496119" y="1617762"/>
            <a:ext cx="3558332" cy="387548"/>
          </a:xfrm>
          <a:prstGeom prst="rect">
            <a:avLst/>
          </a:prstGeom>
          <a:noFill/>
          <a:ln/>
        </p:spPr>
        <p:txBody>
          <a:bodyPr wrap="none" lIns="0" tIns="0" rIns="0" bIns="0" rtlCol="0" anchor="t"/>
          <a:lstStyle/>
          <a:p>
            <a:pPr algn="l" indent="0" marL="0">
              <a:lnSpc>
                <a:spcPct val="104000"/>
              </a:lnSpc>
              <a:buNone/>
            </a:pPr>
            <a:r>
              <a:rPr lang="ko-KR" altLang="en-US" sz="2400" b="1" dirty="0">
                <a:solidFill>
                  <a:srgbClr val="000000"/>
                </a:solidFill>
                <a:latin typeface="Inter Bold" pitchFamily="34" charset="0"/>
                <a:ea typeface="Inter Bold" pitchFamily="34" charset="-122"/>
                <a:cs typeface="Inter Bold" pitchFamily="34" charset="-120"/>
              </a:rPr>
              <a:t>핵심 기능</a:t>
            </a:r>
            <a:endParaRPr lang="ko-KR" sz="2400" dirty="0"/>
          </a:p>
        </p:txBody>
      </p:sp>
      <p:sp>
        <p:nvSpPr>
          <p:cNvPr id="5" name="Shape 3"/>
          <p:cNvSpPr/>
          <p:nvPr/>
        </p:nvSpPr>
        <p:spPr>
          <a:xfrm>
            <a:off x="496119" y="2191345"/>
            <a:ext cx="2634555" cy="1617166"/>
          </a:xfrm>
          <a:prstGeom prst="roundRect">
            <a:avLst>
              <a:gd name="adj" fmla="val 3222"/>
            </a:avLst>
          </a:prstGeom>
          <a:solidFill>
            <a:srgbClr val="DADBF1"/>
          </a:solidFill>
          <a:ln w="4763">
            <a:solidFill>
              <a:srgbClr val="C0C1D7"/>
            </a:solidFill>
            <a:prstDash val="solid"/>
          </a:ln>
        </p:spPr>
      </p:sp>
      <p:sp>
        <p:nvSpPr>
          <p:cNvPr id="6" name="Shape 4"/>
          <p:cNvSpPr/>
          <p:nvPr/>
        </p:nvSpPr>
        <p:spPr>
          <a:xfrm>
            <a:off x="624855" y="2320082"/>
            <a:ext cx="372070" cy="372070"/>
          </a:xfrm>
          <a:prstGeom prst="roundRect">
            <a:avLst>
              <a:gd name="adj" fmla="val 15358477"/>
            </a:avLst>
          </a:prstGeom>
          <a:solidFill>
            <a:srgbClr val="4950BC"/>
          </a:solidFill>
          <a:ln/>
        </p:spPr>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7174" y="2422327"/>
            <a:ext cx="167432" cy="167432"/>
          </a:xfrm>
          <a:prstGeom prst="rect">
            <a:avLst/>
          </a:prstGeom>
        </p:spPr>
      </p:pic>
      <p:sp>
        <p:nvSpPr>
          <p:cNvPr id="8" name="Text 5"/>
          <p:cNvSpPr/>
          <p:nvPr/>
        </p:nvSpPr>
        <p:spPr>
          <a:xfrm>
            <a:off x="624855" y="2816126"/>
            <a:ext cx="1550566" cy="193849"/>
          </a:xfrm>
          <a:prstGeom prst="rect">
            <a:avLst/>
          </a:prstGeom>
          <a:noFill/>
          <a:ln/>
        </p:spPr>
        <p:txBody>
          <a:bodyPr wrap="none" lIns="0" tIns="0" rIns="0" bIns="0" rtlCol="0" anchor="t"/>
          <a:lstStyle/>
          <a:p>
            <a:pPr algn="l" indent="0" marL="0">
              <a:lnSpc>
                <a:spcPct val="104000"/>
              </a:lnSpc>
              <a:buNone/>
            </a:pPr>
            <a:r>
              <a:rPr lang="ko-KR" altLang="en-US" sz="1200" b="1" dirty="0">
                <a:solidFill>
                  <a:srgbClr val="272525"/>
                </a:solidFill>
                <a:latin typeface="Inter Bold" pitchFamily="34" charset="0"/>
                <a:ea typeface="Inter Bold" pitchFamily="34" charset="-122"/>
                <a:cs typeface="Inter Bold" pitchFamily="34" charset="-120"/>
              </a:rPr>
              <a:t>전역 단축키 호출</a:t>
            </a:r>
            <a:endParaRPr lang="ko-KR" sz="1200" dirty="0"/>
          </a:p>
        </p:txBody>
      </p:sp>
      <p:sp>
        <p:nvSpPr>
          <p:cNvPr id="9" name="Text 6"/>
          <p:cNvSpPr/>
          <p:nvPr/>
        </p:nvSpPr>
        <p:spPr>
          <a:xfrm>
            <a:off x="624855" y="3084388"/>
            <a:ext cx="2377083" cy="595387"/>
          </a:xfrm>
          <a:prstGeom prst="rect">
            <a:avLst/>
          </a:prstGeom>
          <a:noFill/>
          <a:ln/>
        </p:spPr>
        <p:txBody>
          <a:bodyPr wrap="square" lIns="0" tIns="0" rIns="0" bIns="0" rtlCol="0" anchor="t">
            <a:normAutofit/>
          </a:bodyPr>
          <a:lstStyle/>
          <a:p>
            <a:pPr algn="l" indent="0" marL="0">
              <a:lnSpc>
                <a:spcPct val="133000"/>
              </a:lnSpc>
              <a:buNone/>
            </a:pPr>
            <a:r>
              <a:rPr lang="ko-KR" altLang="en-US" sz="950" dirty="0">
                <a:solidFill>
                  <a:srgbClr val="272525"/>
                </a:solidFill>
                <a:latin typeface="Inter" pitchFamily="34" charset="0"/>
                <a:ea typeface="Inter" pitchFamily="34" charset="-122"/>
                <a:cs typeface="Inter" pitchFamily="34" charset="-120"/>
              </a:rPr>
              <a:t>Option+Space (macOS) / Alt+Space (Windows·Linux) — 어떤 앱에서도 즉시 동작</a:t>
            </a:r>
            <a:endParaRPr lang="ko-KR" sz="950" dirty="0"/>
          </a:p>
        </p:txBody>
      </p:sp>
      <p:sp>
        <p:nvSpPr>
          <p:cNvPr id="10" name="Shape 7"/>
          <p:cNvSpPr/>
          <p:nvPr/>
        </p:nvSpPr>
        <p:spPr>
          <a:xfrm>
            <a:off x="3254648" y="2191345"/>
            <a:ext cx="2634630" cy="1617166"/>
          </a:xfrm>
          <a:prstGeom prst="roundRect">
            <a:avLst>
              <a:gd name="adj" fmla="val 3222"/>
            </a:avLst>
          </a:prstGeom>
          <a:solidFill>
            <a:srgbClr val="DADBF1"/>
          </a:solidFill>
          <a:ln w="4763">
            <a:solidFill>
              <a:srgbClr val="C0C1D7"/>
            </a:solidFill>
            <a:prstDash val="solid"/>
          </a:ln>
        </p:spPr>
      </p:sp>
      <p:sp>
        <p:nvSpPr>
          <p:cNvPr id="11" name="Shape 8"/>
          <p:cNvSpPr/>
          <p:nvPr/>
        </p:nvSpPr>
        <p:spPr>
          <a:xfrm>
            <a:off x="3383384" y="2320082"/>
            <a:ext cx="372070" cy="372070"/>
          </a:xfrm>
          <a:prstGeom prst="roundRect">
            <a:avLst>
              <a:gd name="adj" fmla="val 15358477"/>
            </a:avLst>
          </a:prstGeom>
          <a:solidFill>
            <a:srgbClr val="4950BC"/>
          </a:solidFill>
          <a:ln/>
        </p:spPr>
      </p:sp>
      <p:pic>
        <p:nvPicPr>
          <p:cNvPr id="1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485704" y="2422327"/>
            <a:ext cx="167432" cy="167432"/>
          </a:xfrm>
          <a:prstGeom prst="rect">
            <a:avLst/>
          </a:prstGeom>
        </p:spPr>
      </p:pic>
      <p:sp>
        <p:nvSpPr>
          <p:cNvPr id="13" name="Text 9"/>
          <p:cNvSpPr/>
          <p:nvPr/>
        </p:nvSpPr>
        <p:spPr>
          <a:xfrm>
            <a:off x="3383384" y="2816126"/>
            <a:ext cx="1550566" cy="193849"/>
          </a:xfrm>
          <a:prstGeom prst="rect">
            <a:avLst/>
          </a:prstGeom>
          <a:noFill/>
          <a:ln/>
        </p:spPr>
        <p:txBody>
          <a:bodyPr wrap="none" lIns="0" tIns="0" rIns="0" bIns="0" rtlCol="0" anchor="t"/>
          <a:lstStyle/>
          <a:p>
            <a:pPr algn="l" indent="0" marL="0">
              <a:lnSpc>
                <a:spcPct val="104000"/>
              </a:lnSpc>
              <a:buNone/>
            </a:pPr>
            <a:r>
              <a:rPr lang="ko-KR" altLang="en-US" sz="1200" b="1" dirty="0">
                <a:solidFill>
                  <a:srgbClr val="272525"/>
                </a:solidFill>
                <a:latin typeface="Inter Bold" pitchFamily="34" charset="0"/>
                <a:ea typeface="Inter Bold" pitchFamily="34" charset="-122"/>
                <a:cs typeface="Inter Bold" pitchFamily="34" charset="-120"/>
              </a:rPr>
              <a:t>선택 텍스트 자동 캡처</a:t>
            </a:r>
            <a:endParaRPr lang="ko-KR" sz="1200" dirty="0"/>
          </a:p>
        </p:txBody>
      </p:sp>
      <p:sp>
        <p:nvSpPr>
          <p:cNvPr id="14" name="Text 10"/>
          <p:cNvSpPr/>
          <p:nvPr/>
        </p:nvSpPr>
        <p:spPr>
          <a:xfrm>
            <a:off x="3383384" y="3084388"/>
            <a:ext cx="2377157" cy="396925"/>
          </a:xfrm>
          <a:prstGeom prst="rect">
            <a:avLst/>
          </a:prstGeom>
          <a:noFill/>
          <a:ln/>
        </p:spPr>
        <p:txBody>
          <a:bodyPr wrap="square" lIns="0" tIns="0" rIns="0" bIns="0" rtlCol="0" anchor="t">
            <a:normAutofit/>
          </a:bodyPr>
          <a:lstStyle/>
          <a:p>
            <a:pPr algn="l" indent="0" marL="0">
              <a:lnSpc>
                <a:spcPct val="133000"/>
              </a:lnSpc>
              <a:buNone/>
            </a:pPr>
            <a:r>
              <a:rPr lang="ko-KR" altLang="en-US" sz="950" dirty="0">
                <a:solidFill>
                  <a:srgbClr val="272525"/>
                </a:solidFill>
                <a:latin typeface="Inter" pitchFamily="34" charset="0"/>
                <a:ea typeface="Inter" pitchFamily="34" charset="-122"/>
                <a:cs typeface="Inter" pitchFamily="34" charset="-120"/>
              </a:rPr>
              <a:t>접근성 API 기반, 단축키 시점의 텍스트를 즉시 캡처 (최대 4회 retry)</a:t>
            </a:r>
            <a:endParaRPr lang="ko-KR" sz="950" dirty="0"/>
          </a:p>
        </p:txBody>
      </p:sp>
      <p:sp>
        <p:nvSpPr>
          <p:cNvPr id="15" name="Shape 11"/>
          <p:cNvSpPr/>
          <p:nvPr/>
        </p:nvSpPr>
        <p:spPr>
          <a:xfrm>
            <a:off x="6013252" y="2191345"/>
            <a:ext cx="2634555" cy="1617166"/>
          </a:xfrm>
          <a:prstGeom prst="roundRect">
            <a:avLst>
              <a:gd name="adj" fmla="val 3222"/>
            </a:avLst>
          </a:prstGeom>
          <a:solidFill>
            <a:srgbClr val="DADBF1"/>
          </a:solidFill>
          <a:ln w="4763">
            <a:solidFill>
              <a:srgbClr val="C0C1D7"/>
            </a:solidFill>
            <a:prstDash val="solid"/>
          </a:ln>
        </p:spPr>
      </p:sp>
      <p:sp>
        <p:nvSpPr>
          <p:cNvPr id="16" name="Shape 12"/>
          <p:cNvSpPr/>
          <p:nvPr/>
        </p:nvSpPr>
        <p:spPr>
          <a:xfrm>
            <a:off x="6141988" y="2320082"/>
            <a:ext cx="372070" cy="372070"/>
          </a:xfrm>
          <a:prstGeom prst="roundRect">
            <a:avLst>
              <a:gd name="adj" fmla="val 15358477"/>
            </a:avLst>
          </a:prstGeom>
          <a:solidFill>
            <a:srgbClr val="4950BC"/>
          </a:solidFill>
          <a:ln/>
        </p:spPr>
      </p:sp>
      <p:pic>
        <p:nvPicPr>
          <p:cNvPr id="1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244307" y="2422327"/>
            <a:ext cx="167432" cy="167432"/>
          </a:xfrm>
          <a:prstGeom prst="rect">
            <a:avLst/>
          </a:prstGeom>
        </p:spPr>
      </p:pic>
      <p:sp>
        <p:nvSpPr>
          <p:cNvPr id="18" name="Text 13"/>
          <p:cNvSpPr/>
          <p:nvPr/>
        </p:nvSpPr>
        <p:spPr>
          <a:xfrm>
            <a:off x="6141988" y="2816126"/>
            <a:ext cx="1550566" cy="193849"/>
          </a:xfrm>
          <a:prstGeom prst="rect">
            <a:avLst/>
          </a:prstGeom>
          <a:noFill/>
          <a:ln/>
        </p:spPr>
        <p:txBody>
          <a:bodyPr wrap="none" lIns="0" tIns="0" rIns="0" bIns="0" rtlCol="0" anchor="t"/>
          <a:lstStyle/>
          <a:p>
            <a:pPr algn="l" indent="0" marL="0">
              <a:lnSpc>
                <a:spcPct val="104000"/>
              </a:lnSpc>
              <a:buNone/>
            </a:pPr>
            <a:r>
              <a:rPr lang="ko-KR" altLang="en-US" sz="1200" b="1" dirty="0">
                <a:solidFill>
                  <a:srgbClr val="272525"/>
                </a:solidFill>
                <a:latin typeface="Inter Bold" pitchFamily="34" charset="0"/>
                <a:ea typeface="Inter Bold" pitchFamily="34" charset="-122"/>
                <a:cs typeface="Inter Bold" pitchFamily="34" charset="-120"/>
              </a:rPr>
              <a:t>원위치 자동 붙여넣기</a:t>
            </a:r>
            <a:endParaRPr lang="ko-KR" sz="1200" dirty="0"/>
          </a:p>
        </p:txBody>
      </p:sp>
      <p:sp>
        <p:nvSpPr>
          <p:cNvPr id="19" name="Text 14"/>
          <p:cNvSpPr/>
          <p:nvPr/>
        </p:nvSpPr>
        <p:spPr>
          <a:xfrm>
            <a:off x="6141988" y="3084388"/>
            <a:ext cx="2377083" cy="396925"/>
          </a:xfrm>
          <a:prstGeom prst="rect">
            <a:avLst/>
          </a:prstGeom>
          <a:noFill/>
          <a:ln/>
        </p:spPr>
        <p:txBody>
          <a:bodyPr wrap="square" lIns="0" tIns="0" rIns="0" bIns="0" rtlCol="0" anchor="t">
            <a:normAutofit/>
          </a:bodyPr>
          <a:lstStyle/>
          <a:p>
            <a:pPr algn="l" indent="0" marL="0">
              <a:lnSpc>
                <a:spcPct val="133000"/>
              </a:lnSpc>
              <a:buNone/>
            </a:pPr>
            <a:r>
              <a:rPr lang="ko-KR" altLang="en-US" sz="950" dirty="0">
                <a:solidFill>
                  <a:srgbClr val="272525"/>
                </a:solidFill>
                <a:latin typeface="Inter" pitchFamily="34" charset="0"/>
                <a:ea typeface="Inter" pitchFamily="34" charset="-122"/>
                <a:cs typeface="Inter" pitchFamily="34" charset="-120"/>
              </a:rPr>
              <a:t>AI 결과를 원래 앱 텍스트 위치에 직접 삽입. 실패 시 클립보드 + 단축키 에뮬레이션 폴백</a:t>
            </a:r>
            <a:endParaRPr lang="ko-KR"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496119" y="853678"/>
            <a:ext cx="754335" cy="233214"/>
          </a:xfrm>
          <a:prstGeom prst="roundRect">
            <a:avLst>
              <a:gd name="adj" fmla="val 17872"/>
            </a:avLst>
          </a:prstGeom>
          <a:solidFill>
            <a:srgbClr val="DADBF1"/>
          </a:solidFill>
          <a:ln/>
        </p:spPr>
      </p:sp>
      <p:sp>
        <p:nvSpPr>
          <p:cNvPr id="3" name="Text 1"/>
          <p:cNvSpPr/>
          <p:nvPr/>
        </p:nvSpPr>
        <p:spPr>
          <a:xfrm>
            <a:off x="570533" y="890885"/>
            <a:ext cx="1062707" cy="158800"/>
          </a:xfrm>
          <a:prstGeom prst="rect">
            <a:avLst/>
          </a:prstGeom>
          <a:noFill/>
          <a:ln/>
        </p:spPr>
        <p:txBody>
          <a:bodyPr wrap="none" lIns="0" tIns="0" rIns="0" bIns="0" rtlCol="0" anchor="t"/>
          <a:lstStyle/>
          <a:p>
            <a:pPr algn="l" indent="0" marL="0">
              <a:lnSpc>
                <a:spcPct val="133000"/>
              </a:lnSpc>
              <a:buNone/>
            </a:pPr>
            <a:r>
              <a:rPr lang="ko-KR" altLang="en-US" sz="750" dirty="0">
                <a:solidFill>
                  <a:srgbClr val="272525"/>
                </a:solidFill>
                <a:latin typeface="Inter" pitchFamily="34" charset="0"/>
                <a:ea typeface="Inter" pitchFamily="34" charset="-122"/>
                <a:cs typeface="Inter" pitchFamily="34" charset="-120"/>
              </a:rPr>
              <a:t>03 · AI &amp; 설정</a:t>
            </a:r>
            <a:endParaRPr lang="ko-KR" sz="750" dirty="0"/>
          </a:p>
        </p:txBody>
      </p:sp>
      <p:sp>
        <p:nvSpPr>
          <p:cNvPr id="4" name="Text 2"/>
          <p:cNvSpPr/>
          <p:nvPr/>
        </p:nvSpPr>
        <p:spPr>
          <a:xfrm>
            <a:off x="496119" y="1136452"/>
            <a:ext cx="3558332" cy="387548"/>
          </a:xfrm>
          <a:prstGeom prst="rect">
            <a:avLst/>
          </a:prstGeom>
          <a:noFill/>
          <a:ln/>
        </p:spPr>
        <p:txBody>
          <a:bodyPr wrap="none" lIns="0" tIns="0" rIns="0" bIns="0" rtlCol="0" anchor="t"/>
          <a:lstStyle/>
          <a:p>
            <a:pPr algn="l" indent="0" marL="0">
              <a:lnSpc>
                <a:spcPct val="104000"/>
              </a:lnSpc>
              <a:buNone/>
            </a:pPr>
            <a:r>
              <a:rPr lang="ko-KR" altLang="en-US" sz="2400" b="1" dirty="0">
                <a:solidFill>
                  <a:srgbClr val="000000"/>
                </a:solidFill>
                <a:latin typeface="Inter Bold" pitchFamily="34" charset="0"/>
                <a:ea typeface="Inter Bold" pitchFamily="34" charset="-122"/>
                <a:cs typeface="Inter Bold" pitchFamily="34" charset="-120"/>
              </a:rPr>
              <a:t>AI 기능 &amp; 설정</a:t>
            </a:r>
            <a:endParaRPr lang="ko-KR" sz="2400" dirty="0"/>
          </a:p>
        </p:txBody>
      </p:sp>
      <p:sp>
        <p:nvSpPr>
          <p:cNvPr id="5" name="Text 3"/>
          <p:cNvSpPr/>
          <p:nvPr/>
        </p:nvSpPr>
        <p:spPr>
          <a:xfrm>
            <a:off x="496119" y="1834009"/>
            <a:ext cx="2007766" cy="193849"/>
          </a:xfrm>
          <a:prstGeom prst="rect">
            <a:avLst/>
          </a:prstGeom>
          <a:noFill/>
          <a:ln/>
        </p:spPr>
        <p:txBody>
          <a:bodyPr wrap="none" lIns="0" tIns="0" rIns="0" bIns="0" rtlCol="0" anchor="t"/>
          <a:lstStyle/>
          <a:p>
            <a:pPr algn="l" indent="0" marL="0">
              <a:lnSpc>
                <a:spcPct val="104000"/>
              </a:lnSpc>
              <a:buNone/>
            </a:pPr>
            <a:r>
              <a:rPr lang="ko-KR" altLang="en-US" sz="1200" b="1" dirty="0">
                <a:solidFill>
                  <a:srgbClr val="000000"/>
                </a:solidFill>
                <a:latin typeface="Inter Bold" pitchFamily="34" charset="0"/>
                <a:ea typeface="Inter Bold" pitchFamily="34" charset="-122"/>
                <a:cs typeface="Inter Bold" pitchFamily="34" charset="-120"/>
              </a:rPr>
              <a:t>AI 프리셋 &amp; 제공사</a:t>
            </a:r>
            <a:endParaRPr lang="ko-KR" sz="1200" dirty="0"/>
          </a:p>
        </p:txBody>
      </p:sp>
      <p:sp>
        <p:nvSpPr>
          <p:cNvPr id="6" name="Text 4"/>
          <p:cNvSpPr/>
          <p:nvPr/>
        </p:nvSpPr>
        <p:spPr>
          <a:xfrm>
            <a:off x="496119" y="2151831"/>
            <a:ext cx="3924598" cy="1122462"/>
          </a:xfrm>
          <a:prstGeom prst="rect">
            <a:avLst/>
          </a:prstGeom>
          <a:noFill/>
          <a:ln/>
        </p:spPr>
        <p:txBody>
          <a:bodyPr wrap="square" lIns="0" tIns="0" rIns="0" bIns="0" rtlCol="0" anchor="t">
            <a:normAutofit/>
          </a:bodyPr>
          <a:lstStyle/>
          <a:p>
            <a:pPr algn="l" marL="193040" indent="-193040">
              <a:lnSpc>
                <a:spcPct val="133000"/>
              </a:lnSpc>
              <a:buSzPct val="100000"/>
              <a:buChar char="•"/>
            </a:pPr>
            <a:r>
              <a:rPr lang="ko-KR" altLang="en-US" sz="950" b="1" dirty="0">
                <a:solidFill>
                  <a:srgbClr val="272525"/>
                </a:solidFill>
                <a:latin typeface="Inter Bold" pitchFamily="34" charset="0"/>
                <a:ea typeface="Inter Bold" pitchFamily="34" charset="-122"/>
                <a:cs typeface="Inter Bold" pitchFamily="34" charset="-120"/>
              </a:rPr>
              <a:t>5종 프리셋 버튼:</a:t>
            </a:r>
            <a:pPr algn="l" marL="193040" indent="-193040">
              <a:lnSpc>
                <a:spcPct val="133000"/>
              </a:lnSpc>
              <a:buSzPct val="100000"/>
              <a:buChar char="•"/>
            </a:pPr>
            <a:r>
              <a:rPr lang="ko-KR" altLang="en-US" sz="950" dirty="0">
                <a:solidFill>
                  <a:srgbClr val="272525"/>
                </a:solidFill>
                <a:latin typeface="Inter" pitchFamily="34" charset="0"/>
                <a:ea typeface="Inter" pitchFamily="34" charset="-122"/>
                <a:cs typeface="Inter" pitchFamily="34" charset="-120"/>
              </a:rPr>
              <a:t> 문법 교정 / 문장 개선 / 전문화 / 이어쓰기 / 번역</a:t>
            </a:r>
            <a:endParaRPr lang="ko-KR" sz="950" dirty="0"/>
          </a:p>
          <a:p>
            <a:pPr algn="l" marL="193040" indent="-193040">
              <a:lnSpc>
                <a:spcPct val="133000"/>
              </a:lnSpc>
              <a:buSzPct val="100000"/>
              <a:buChar char="•"/>
            </a:pPr>
            <a:r>
              <a:rPr lang="ko-KR" altLang="en-US" sz="950" b="1" dirty="0">
                <a:solidFill>
                  <a:srgbClr val="272525"/>
                </a:solidFill>
                <a:latin typeface="Inter Bold" pitchFamily="34" charset="0"/>
                <a:ea typeface="Inter Bold" pitchFamily="34" charset="-122"/>
                <a:cs typeface="Inter Bold" pitchFamily="34" charset="-120"/>
              </a:rPr>
              <a:t>자유 입력 프롬프트:</a:t>
            </a:r>
            <a:pPr algn="l" marL="193040" indent="-193040">
              <a:lnSpc>
                <a:spcPct val="133000"/>
              </a:lnSpc>
              <a:buSzPct val="100000"/>
              <a:buChar char="•"/>
            </a:pPr>
            <a:r>
              <a:rPr lang="ko-KR" altLang="en-US" sz="950" dirty="0">
                <a:solidFill>
                  <a:srgbClr val="272525"/>
                </a:solidFill>
                <a:latin typeface="Inter" pitchFamily="34" charset="0"/>
                <a:ea typeface="Inter" pitchFamily="34" charset="-122"/>
                <a:cs typeface="Inter" pitchFamily="34" charset="-120"/>
              </a:rPr>
              <a:t> 사용자가 직접 AI 지시문 입력</a:t>
            </a:r>
            <a:endParaRPr lang="ko-KR" sz="950" dirty="0"/>
          </a:p>
          <a:p>
            <a:pPr algn="l" marL="193040" indent="-193040">
              <a:lnSpc>
                <a:spcPct val="133000"/>
              </a:lnSpc>
              <a:buSzPct val="100000"/>
              <a:buChar char="•"/>
            </a:pPr>
            <a:r>
              <a:rPr lang="ko-KR" altLang="en-US" sz="950" b="1" dirty="0">
                <a:solidFill>
                  <a:srgbClr val="272525"/>
                </a:solidFill>
                <a:latin typeface="Inter Bold" pitchFamily="34" charset="0"/>
                <a:ea typeface="Inter Bold" pitchFamily="34" charset="-122"/>
                <a:cs typeface="Inter Bold" pitchFamily="34" charset="-120"/>
              </a:rPr>
              <a:t>6개 AI 제공사:</a:t>
            </a:r>
            <a:pPr algn="l" marL="193040" indent="-193040">
              <a:lnSpc>
                <a:spcPct val="133000"/>
              </a:lnSpc>
              <a:buSzPct val="100000"/>
              <a:buChar char="•"/>
            </a:pPr>
            <a:r>
              <a:rPr lang="ko-KR" altLang="en-US" sz="950" dirty="0">
                <a:solidFill>
                  <a:srgbClr val="272525"/>
                </a:solidFill>
                <a:latin typeface="Inter" pitchFamily="34" charset="0"/>
                <a:ea typeface="Inter" pitchFamily="34" charset="-122"/>
                <a:cs typeface="Inter" pitchFamily="34" charset="-120"/>
              </a:rPr>
              <a:t> OpenAI / Anthropic Claude / Google Gemini / AWS Bedrock / OpenRouter / Custom OpenAI 호환 API</a:t>
            </a:r>
            <a:endParaRPr lang="ko-KR" sz="950" dirty="0"/>
          </a:p>
          <a:p>
            <a:pPr algn="l" marL="193040" indent="-193040">
              <a:lnSpc>
                <a:spcPct val="133000"/>
              </a:lnSpc>
              <a:buSzPct val="100000"/>
              <a:buChar char="•"/>
            </a:pPr>
            <a:r>
              <a:rPr lang="ko-KR" altLang="en-US" sz="950" dirty="0">
                <a:solidFill>
                  <a:srgbClr val="272525"/>
                </a:solidFill>
                <a:latin typeface="Inter" pitchFamily="34" charset="0"/>
                <a:ea typeface="Inter" pitchFamily="34" charset="-122"/>
                <a:cs typeface="Inter" pitchFamily="34" charset="-120"/>
              </a:rPr>
              <a:t>제공사별 모델 선택 및 API로 최신 모델 목록 동적 조회</a:t>
            </a:r>
            <a:endParaRPr lang="ko-KR" sz="950" dirty="0"/>
          </a:p>
        </p:txBody>
      </p:sp>
      <p:sp>
        <p:nvSpPr>
          <p:cNvPr id="7" name="Text 5"/>
          <p:cNvSpPr/>
          <p:nvPr/>
        </p:nvSpPr>
        <p:spPr>
          <a:xfrm>
            <a:off x="4728046" y="1834009"/>
            <a:ext cx="2007766" cy="193849"/>
          </a:xfrm>
          <a:prstGeom prst="rect">
            <a:avLst/>
          </a:prstGeom>
          <a:noFill/>
          <a:ln/>
        </p:spPr>
        <p:txBody>
          <a:bodyPr wrap="none" lIns="0" tIns="0" rIns="0" bIns="0" rtlCol="0" anchor="t"/>
          <a:lstStyle/>
          <a:p>
            <a:pPr algn="l" indent="0" marL="0">
              <a:lnSpc>
                <a:spcPct val="104000"/>
              </a:lnSpc>
              <a:buNone/>
            </a:pPr>
            <a:r>
              <a:rPr lang="ko-KR" altLang="en-US" sz="1200" b="1" dirty="0">
                <a:solidFill>
                  <a:srgbClr val="000000"/>
                </a:solidFill>
                <a:latin typeface="Inter Bold" pitchFamily="34" charset="0"/>
                <a:ea typeface="Inter Bold" pitchFamily="34" charset="-122"/>
                <a:cs typeface="Inter Bold" pitchFamily="34" charset="-120"/>
              </a:rPr>
              <a:t>설정 기능</a:t>
            </a:r>
            <a:endParaRPr lang="ko-KR" sz="1200" dirty="0"/>
          </a:p>
        </p:txBody>
      </p:sp>
      <p:sp>
        <p:nvSpPr>
          <p:cNvPr id="8" name="Text 6"/>
          <p:cNvSpPr/>
          <p:nvPr/>
        </p:nvSpPr>
        <p:spPr>
          <a:xfrm>
            <a:off x="4728046" y="2151831"/>
            <a:ext cx="3924598" cy="2094607"/>
          </a:xfrm>
          <a:prstGeom prst="rect">
            <a:avLst/>
          </a:prstGeom>
          <a:noFill/>
          <a:ln/>
        </p:spPr>
        <p:txBody>
          <a:bodyPr wrap="square" lIns="0" tIns="0" rIns="0" bIns="0" rtlCol="0" anchor="t">
            <a:normAutofit/>
          </a:bodyPr>
          <a:lstStyle/>
          <a:p>
            <a:pPr algn="l" marL="193040" indent="-193040">
              <a:lnSpc>
                <a:spcPct val="133000"/>
              </a:lnSpc>
              <a:buSzPct val="100000"/>
              <a:buChar char="•"/>
            </a:pPr>
            <a:r>
              <a:rPr lang="ko-KR" altLang="en-US" sz="950" dirty="0">
                <a:solidFill>
                  <a:srgbClr val="272525"/>
                </a:solidFill>
                <a:latin typeface="Inter" pitchFamily="34" charset="0"/>
                <a:ea typeface="Inter" pitchFamily="34" charset="-122"/>
                <a:cs typeface="Inter" pitchFamily="34" charset="-120"/>
              </a:rPr>
              <a:t>API 키 입력 및 저장 (제공사별)</a:t>
            </a:r>
            <a:endParaRPr lang="ko-KR" sz="950" dirty="0"/>
          </a:p>
          <a:p>
            <a:pPr algn="l" marL="193040" indent="-193040">
              <a:lnSpc>
                <a:spcPct val="133000"/>
              </a:lnSpc>
              <a:buSzPct val="100000"/>
              <a:buChar char="•"/>
            </a:pPr>
            <a:r>
              <a:rPr lang="ko-KR" altLang="en-US" sz="950" dirty="0">
                <a:solidFill>
                  <a:srgbClr val="272525"/>
                </a:solidFill>
                <a:latin typeface="Inter" pitchFamily="34" charset="0"/>
                <a:ea typeface="Inter" pitchFamily="34" charset="-122"/>
                <a:cs typeface="Inter" pitchFamily="34" charset="-120"/>
              </a:rPr>
              <a:t>모델 선택 (드롭다운, 동적 목록 새로고침)</a:t>
            </a:r>
            <a:endParaRPr lang="ko-KR" sz="950" dirty="0"/>
          </a:p>
          <a:p>
            <a:pPr algn="l" marL="193040" indent="-193040">
              <a:lnSpc>
                <a:spcPct val="133000"/>
              </a:lnSpc>
              <a:buSzPct val="100000"/>
              <a:buChar char="•"/>
            </a:pPr>
            <a:r>
              <a:rPr lang="ko-KR" altLang="en-US" sz="950" dirty="0">
                <a:solidFill>
                  <a:srgbClr val="272525"/>
                </a:solidFill>
                <a:latin typeface="Inter" pitchFamily="34" charset="0"/>
                <a:ea typeface="Inter" pitchFamily="34" charset="-122"/>
                <a:cs typeface="Inter" pitchFamily="34" charset="-120"/>
              </a:rPr>
              <a:t>시스템 프롬프트 커스터마이징 + AI 번역 (한</a:t>
            </a:r>
            <a:pPr algn="l" marL="193040" indent="-193040">
              <a:lnSpc>
                <a:spcPct val="133000"/>
              </a:lnSpc>
              <a:buSzPct val="100000"/>
              <a:buChar char="•"/>
            </a:pPr>
            <a:r>
              <a:rPr lang="ko-KR" altLang="en-US" sz="950" dirty="0">
                <a:solidFill>
                  <a:srgbClr val="000000"/>
                </a:solidFill>
                <a:latin typeface="Inter" pitchFamily="34" charset="0"/>
                <a:ea typeface="Inter" pitchFamily="34" charset="-122"/>
                <a:cs typeface="Inter" pitchFamily="34" charset="-120"/>
              </a:rPr>
              <a:t>↔</a:t>
            </a:r>
            <a:pPr algn="l" marL="193040" indent="-193040">
              <a:lnSpc>
                <a:spcPct val="133000"/>
              </a:lnSpc>
              <a:buSzPct val="100000"/>
              <a:buChar char="•"/>
            </a:pPr>
            <a:r>
              <a:rPr lang="ko-KR" altLang="en-US" sz="950" dirty="0">
                <a:solidFill>
                  <a:srgbClr val="272525"/>
                </a:solidFill>
                <a:latin typeface="Inter" pitchFamily="34" charset="0"/>
                <a:ea typeface="Inter" pitchFamily="34" charset="-122"/>
                <a:cs typeface="Inter" pitchFamily="34" charset="-120"/>
              </a:rPr>
              <a:t>영)</a:t>
            </a:r>
            <a:endParaRPr lang="ko-KR" sz="950" dirty="0"/>
          </a:p>
          <a:p>
            <a:pPr algn="l" marL="193040" indent="-193040">
              <a:lnSpc>
                <a:spcPct val="133000"/>
              </a:lnSpc>
              <a:buSzPct val="100000"/>
              <a:buChar char="•"/>
            </a:pPr>
            <a:r>
              <a:rPr lang="ko-KR" altLang="en-US" sz="950" dirty="0">
                <a:solidFill>
                  <a:srgbClr val="272525"/>
                </a:solidFill>
                <a:latin typeface="Inter" pitchFamily="34" charset="0"/>
                <a:ea typeface="Inter" pitchFamily="34" charset="-122"/>
                <a:cs typeface="Inter" pitchFamily="34" charset="-120"/>
              </a:rPr>
              <a:t>인터페이스 언어 전환: 한국어 / 영어</a:t>
            </a:r>
            <a:endParaRPr lang="ko-KR" sz="950" dirty="0"/>
          </a:p>
          <a:p>
            <a:pPr algn="l" marL="193040" indent="-193040">
              <a:lnSpc>
                <a:spcPct val="133000"/>
              </a:lnSpc>
              <a:buSzPct val="100000"/>
              <a:buChar char="•"/>
            </a:pPr>
            <a:r>
              <a:rPr lang="ko-KR" altLang="en-US" sz="950" dirty="0">
                <a:solidFill>
                  <a:srgbClr val="272525"/>
                </a:solidFill>
                <a:latin typeface="Inter" pitchFamily="34" charset="0"/>
                <a:ea typeface="Inter" pitchFamily="34" charset="-122"/>
                <a:cs typeface="Inter" pitchFamily="34" charset="-120"/>
              </a:rPr>
              <a:t>다크 모드 / 라이트 모드 전환</a:t>
            </a:r>
            <a:endParaRPr lang="ko-KR" sz="950" dirty="0"/>
          </a:p>
          <a:p>
            <a:pPr algn="l" marL="193040" indent="-193040">
              <a:lnSpc>
                <a:spcPct val="133000"/>
              </a:lnSpc>
              <a:buSzPct val="100000"/>
              <a:buChar char="•"/>
            </a:pPr>
            <a:r>
              <a:rPr lang="ko-KR" altLang="en-US" sz="950" dirty="0">
                <a:solidFill>
                  <a:srgbClr val="272525"/>
                </a:solidFill>
                <a:latin typeface="Inter" pitchFamily="34" charset="0"/>
                <a:ea typeface="Inter" pitchFamily="34" charset="-122"/>
                <a:cs typeface="Inter" pitchFamily="34" charset="-120"/>
              </a:rPr>
              <a:t>모든 설정은 앱 재시작 후에도 유지 (로컬 파일 기반)</a:t>
            </a:r>
            <a:endParaRPr lang="ko-KR" sz="950" dirty="0"/>
          </a:p>
          <a:p>
            <a:pPr algn="l" marL="193040" indent="-193040">
              <a:lnSpc>
                <a:spcPct val="133000"/>
              </a:lnSpc>
              <a:buSzPct val="100000"/>
              <a:buChar char="•"/>
            </a:pPr>
            <a:r>
              <a:rPr lang="ko-KR" altLang="en-US" sz="950" dirty="0">
                <a:solidFill>
                  <a:srgbClr val="272525"/>
                </a:solidFill>
                <a:latin typeface="Inter" pitchFamily="34" charset="0"/>
                <a:ea typeface="Inter" pitchFamily="34" charset="-122"/>
                <a:cs typeface="Inter" pitchFamily="34" charset="-120"/>
              </a:rPr>
              <a:t>시스템 트레이 상주, 백그라운드 실행</a:t>
            </a:r>
            <a:endParaRPr lang="ko-KR" sz="950" dirty="0"/>
          </a:p>
          <a:p>
            <a:pPr algn="l" marL="193040" indent="-193040">
              <a:lnSpc>
                <a:spcPct val="133000"/>
              </a:lnSpc>
              <a:buSzPct val="100000"/>
              <a:buChar char="•"/>
            </a:pPr>
            <a:r>
              <a:rPr lang="ko-KR" altLang="en-US" sz="950" dirty="0">
                <a:solidFill>
                  <a:srgbClr val="272525"/>
                </a:solidFill>
                <a:latin typeface="Inter" pitchFamily="34" charset="0"/>
                <a:ea typeface="Inter" pitchFamily="34" charset="-122"/>
                <a:cs typeface="Inter" pitchFamily="34" charset="-120"/>
              </a:rPr>
              <a:t>오류 처리: API 키 미입력 경고, API 오류 메시지, 붙여넣기 실패 시 권한 안내</a:t>
            </a:r>
            <a:endParaRPr lang="ko-KR"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496119" y="798537"/>
            <a:ext cx="724942" cy="233214"/>
          </a:xfrm>
          <a:prstGeom prst="roundRect">
            <a:avLst>
              <a:gd name="adj" fmla="val 17872"/>
            </a:avLst>
          </a:prstGeom>
          <a:solidFill>
            <a:srgbClr val="DADBF1"/>
          </a:solidFill>
          <a:ln/>
        </p:spPr>
      </p:sp>
      <p:sp>
        <p:nvSpPr>
          <p:cNvPr id="3" name="Text 1"/>
          <p:cNvSpPr/>
          <p:nvPr/>
        </p:nvSpPr>
        <p:spPr>
          <a:xfrm>
            <a:off x="570533" y="835744"/>
            <a:ext cx="1033314" cy="158800"/>
          </a:xfrm>
          <a:prstGeom prst="rect">
            <a:avLst/>
          </a:prstGeom>
          <a:noFill/>
          <a:ln/>
        </p:spPr>
        <p:txBody>
          <a:bodyPr wrap="none" lIns="0" tIns="0" rIns="0" bIns="0" rtlCol="0" anchor="t"/>
          <a:lstStyle/>
          <a:p>
            <a:pPr algn="l" indent="0" marL="0">
              <a:lnSpc>
                <a:spcPct val="133000"/>
              </a:lnSpc>
              <a:buNone/>
            </a:pPr>
            <a:r>
              <a:rPr lang="ko-KR" altLang="en-US" sz="750" dirty="0">
                <a:solidFill>
                  <a:srgbClr val="272525"/>
                </a:solidFill>
                <a:latin typeface="Inter" pitchFamily="34" charset="0"/>
                <a:ea typeface="Inter" pitchFamily="34" charset="-122"/>
                <a:cs typeface="Inter" pitchFamily="34" charset="-120"/>
              </a:rPr>
              <a:t>04 · 기대효과</a:t>
            </a:r>
            <a:endParaRPr lang="ko-KR" sz="750" dirty="0"/>
          </a:p>
        </p:txBody>
      </p:sp>
      <p:sp>
        <p:nvSpPr>
          <p:cNvPr id="4" name="Text 2"/>
          <p:cNvSpPr/>
          <p:nvPr/>
        </p:nvSpPr>
        <p:spPr>
          <a:xfrm>
            <a:off x="496119" y="1081311"/>
            <a:ext cx="3558332" cy="387548"/>
          </a:xfrm>
          <a:prstGeom prst="rect">
            <a:avLst/>
          </a:prstGeom>
          <a:noFill/>
          <a:ln/>
        </p:spPr>
        <p:txBody>
          <a:bodyPr wrap="none" lIns="0" tIns="0" rIns="0" bIns="0" rtlCol="0" anchor="t"/>
          <a:lstStyle/>
          <a:p>
            <a:pPr algn="l" indent="0" marL="0">
              <a:lnSpc>
                <a:spcPct val="104000"/>
              </a:lnSpc>
              <a:buNone/>
            </a:pPr>
            <a:r>
              <a:rPr lang="ko-KR" altLang="en-US" sz="2400" b="1" dirty="0">
                <a:solidFill>
                  <a:srgbClr val="000000"/>
                </a:solidFill>
                <a:latin typeface="Inter Bold" pitchFamily="34" charset="0"/>
                <a:ea typeface="Inter Bold" pitchFamily="34" charset="-122"/>
                <a:cs typeface="Inter Bold" pitchFamily="34" charset="-120"/>
              </a:rPr>
              <a:t>Dadumi가 가져올 변화</a:t>
            </a:r>
            <a:endParaRPr lang="ko-KR" sz="2400" dirty="0"/>
          </a:p>
        </p:txBody>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96119" y="1654894"/>
            <a:ext cx="310083" cy="310083"/>
          </a:xfrm>
          <a:prstGeom prst="rect">
            <a:avLst/>
          </a:prstGeom>
        </p:spPr>
      </p:pic>
      <p:sp>
        <p:nvSpPr>
          <p:cNvPr id="6" name="Text 3"/>
          <p:cNvSpPr/>
          <p:nvPr/>
        </p:nvSpPr>
        <p:spPr>
          <a:xfrm>
            <a:off x="961206" y="1654894"/>
            <a:ext cx="1550566" cy="193849"/>
          </a:xfrm>
          <a:prstGeom prst="rect">
            <a:avLst/>
          </a:prstGeom>
          <a:noFill/>
          <a:ln/>
        </p:spPr>
        <p:txBody>
          <a:bodyPr wrap="none" lIns="0" tIns="0" rIns="0" bIns="0" rtlCol="0" anchor="t"/>
          <a:lstStyle/>
          <a:p>
            <a:pPr algn="l" indent="0" marL="0">
              <a:lnSpc>
                <a:spcPct val="104000"/>
              </a:lnSpc>
              <a:buNone/>
            </a:pPr>
            <a:r>
              <a:rPr lang="ko-KR" altLang="en-US" sz="1200" b="1" dirty="0">
                <a:solidFill>
                  <a:srgbClr val="272525"/>
                </a:solidFill>
                <a:latin typeface="Inter Bold" pitchFamily="34" charset="0"/>
                <a:ea typeface="Inter Bold" pitchFamily="34" charset="-122"/>
                <a:cs typeface="Inter Bold" pitchFamily="34" charset="-120"/>
              </a:rPr>
              <a:t>생산성 향상</a:t>
            </a:r>
            <a:endParaRPr lang="ko-KR" sz="1200" dirty="0"/>
          </a:p>
        </p:txBody>
      </p:sp>
      <p:sp>
        <p:nvSpPr>
          <p:cNvPr id="7" name="Text 4"/>
          <p:cNvSpPr/>
          <p:nvPr/>
        </p:nvSpPr>
        <p:spPr>
          <a:xfrm>
            <a:off x="961206" y="1923157"/>
            <a:ext cx="2148780" cy="396925"/>
          </a:xfrm>
          <a:prstGeom prst="rect">
            <a:avLst/>
          </a:prstGeom>
          <a:noFill/>
          <a:ln/>
        </p:spPr>
        <p:txBody>
          <a:bodyPr wrap="square" lIns="0" tIns="0" rIns="0" bIns="0" rtlCol="0" anchor="t">
            <a:normAutofit/>
          </a:bodyPr>
          <a:lstStyle/>
          <a:p>
            <a:pPr algn="l" indent="0" marL="0">
              <a:lnSpc>
                <a:spcPct val="133000"/>
              </a:lnSpc>
              <a:buNone/>
            </a:pPr>
            <a:r>
              <a:rPr lang="ko-KR" altLang="en-US" sz="950" dirty="0">
                <a:solidFill>
                  <a:srgbClr val="272525"/>
                </a:solidFill>
                <a:latin typeface="Inter" pitchFamily="34" charset="0"/>
                <a:ea typeface="Inter" pitchFamily="34" charset="-122"/>
                <a:cs typeface="Inter" pitchFamily="34" charset="-120"/>
              </a:rPr>
              <a:t>앱 전환 없이 글쓰기 작업 흐름 유지 — 복사-붙여넣기 반복 동작 완전 제거</a:t>
            </a:r>
            <a:endParaRPr lang="ko-KR" sz="950" dirty="0"/>
          </a:p>
        </p:txBody>
      </p:sp>
      <p:pic>
        <p:nvPicPr>
          <p:cNvPr id="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264991" y="1654894"/>
            <a:ext cx="310083" cy="310083"/>
          </a:xfrm>
          <a:prstGeom prst="rect">
            <a:avLst/>
          </a:prstGeom>
        </p:spPr>
      </p:pic>
      <p:sp>
        <p:nvSpPr>
          <p:cNvPr id="9" name="Text 5"/>
          <p:cNvSpPr/>
          <p:nvPr/>
        </p:nvSpPr>
        <p:spPr>
          <a:xfrm>
            <a:off x="3730079" y="1654894"/>
            <a:ext cx="1550566" cy="193849"/>
          </a:xfrm>
          <a:prstGeom prst="rect">
            <a:avLst/>
          </a:prstGeom>
          <a:noFill/>
          <a:ln/>
        </p:spPr>
        <p:txBody>
          <a:bodyPr wrap="none" lIns="0" tIns="0" rIns="0" bIns="0" rtlCol="0" anchor="t"/>
          <a:lstStyle/>
          <a:p>
            <a:pPr algn="l" indent="0" marL="0">
              <a:lnSpc>
                <a:spcPct val="104000"/>
              </a:lnSpc>
              <a:buNone/>
            </a:pPr>
            <a:r>
              <a:rPr lang="ko-KR" altLang="en-US" sz="1200" b="1" dirty="0">
                <a:solidFill>
                  <a:srgbClr val="272525"/>
                </a:solidFill>
                <a:latin typeface="Inter Bold" pitchFamily="34" charset="0"/>
                <a:ea typeface="Inter Bold" pitchFamily="34" charset="-122"/>
                <a:cs typeface="Inter Bold" pitchFamily="34" charset="-120"/>
              </a:rPr>
              <a:t>범용성</a:t>
            </a:r>
            <a:endParaRPr lang="ko-KR" sz="1200" dirty="0"/>
          </a:p>
        </p:txBody>
      </p:sp>
      <p:sp>
        <p:nvSpPr>
          <p:cNvPr id="10" name="Text 6"/>
          <p:cNvSpPr/>
          <p:nvPr/>
        </p:nvSpPr>
        <p:spPr>
          <a:xfrm>
            <a:off x="3730079" y="1923157"/>
            <a:ext cx="2148855" cy="595387"/>
          </a:xfrm>
          <a:prstGeom prst="rect">
            <a:avLst/>
          </a:prstGeom>
          <a:noFill/>
          <a:ln/>
        </p:spPr>
        <p:txBody>
          <a:bodyPr wrap="square" lIns="0" tIns="0" rIns="0" bIns="0" rtlCol="0" anchor="t">
            <a:normAutofit/>
          </a:bodyPr>
          <a:lstStyle/>
          <a:p>
            <a:pPr algn="l" indent="0" marL="0">
              <a:lnSpc>
                <a:spcPct val="133000"/>
              </a:lnSpc>
              <a:buNone/>
            </a:pPr>
            <a:r>
              <a:rPr lang="ko-KR" altLang="en-US" sz="950" dirty="0">
                <a:solidFill>
                  <a:srgbClr val="272525"/>
                </a:solidFill>
                <a:latin typeface="Inter" pitchFamily="34" charset="0"/>
                <a:ea typeface="Inter" pitchFamily="34" charset="-122"/>
                <a:cs typeface="Inter" pitchFamily="34" charset="-120"/>
              </a:rPr>
              <a:t>OS, 앱 구분 없이 텍스트 입력 가능한 모든 환경 (Slack, Notion, Word, Chrome 등) 에서 동일하게 동작</a:t>
            </a:r>
            <a:endParaRPr lang="ko-KR" sz="950" dirty="0"/>
          </a:p>
        </p:txBody>
      </p:sp>
      <p:pic>
        <p:nvPicPr>
          <p:cNvPr id="1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033939" y="1654894"/>
            <a:ext cx="310083" cy="310083"/>
          </a:xfrm>
          <a:prstGeom prst="rect">
            <a:avLst/>
          </a:prstGeom>
        </p:spPr>
      </p:pic>
      <p:sp>
        <p:nvSpPr>
          <p:cNvPr id="12" name="Text 7"/>
          <p:cNvSpPr/>
          <p:nvPr/>
        </p:nvSpPr>
        <p:spPr>
          <a:xfrm>
            <a:off x="6499027" y="1654894"/>
            <a:ext cx="1550566" cy="193849"/>
          </a:xfrm>
          <a:prstGeom prst="rect">
            <a:avLst/>
          </a:prstGeom>
          <a:noFill/>
          <a:ln/>
        </p:spPr>
        <p:txBody>
          <a:bodyPr wrap="none" lIns="0" tIns="0" rIns="0" bIns="0" rtlCol="0" anchor="t"/>
          <a:lstStyle/>
          <a:p>
            <a:pPr algn="l" indent="0" marL="0">
              <a:lnSpc>
                <a:spcPct val="104000"/>
              </a:lnSpc>
              <a:buNone/>
            </a:pPr>
            <a:r>
              <a:rPr lang="ko-KR" altLang="en-US" sz="1200" b="1" dirty="0">
                <a:solidFill>
                  <a:srgbClr val="272525"/>
                </a:solidFill>
                <a:latin typeface="Inter Bold" pitchFamily="34" charset="0"/>
                <a:ea typeface="Inter Bold" pitchFamily="34" charset="-122"/>
                <a:cs typeface="Inter Bold" pitchFamily="34" charset="-120"/>
              </a:rPr>
              <a:t>낮은 진입 장벽</a:t>
            </a:r>
            <a:endParaRPr lang="ko-KR" sz="1200" dirty="0"/>
          </a:p>
        </p:txBody>
      </p:sp>
      <p:sp>
        <p:nvSpPr>
          <p:cNvPr id="13" name="Text 8"/>
          <p:cNvSpPr/>
          <p:nvPr/>
        </p:nvSpPr>
        <p:spPr>
          <a:xfrm>
            <a:off x="6499027" y="1923157"/>
            <a:ext cx="2148855" cy="396925"/>
          </a:xfrm>
          <a:prstGeom prst="rect">
            <a:avLst/>
          </a:prstGeom>
          <a:noFill/>
          <a:ln/>
        </p:spPr>
        <p:txBody>
          <a:bodyPr wrap="square" lIns="0" tIns="0" rIns="0" bIns="0" rtlCol="0" anchor="t">
            <a:normAutofit/>
          </a:bodyPr>
          <a:lstStyle/>
          <a:p>
            <a:pPr algn="l" indent="0" marL="0">
              <a:lnSpc>
                <a:spcPct val="133000"/>
              </a:lnSpc>
              <a:buNone/>
            </a:pPr>
            <a:r>
              <a:rPr lang="ko-KR" altLang="en-US" sz="950" dirty="0">
                <a:solidFill>
                  <a:srgbClr val="272525"/>
                </a:solidFill>
                <a:latin typeface="Inter" pitchFamily="34" charset="0"/>
                <a:ea typeface="Inter" pitchFamily="34" charset="-122"/>
                <a:cs typeface="Inter" pitchFamily="34" charset="-120"/>
              </a:rPr>
              <a:t>설치 스크립트 한 줄, 직관적 플로팅 UI — 비개발자도 즉시 사용 가능</a:t>
            </a:r>
            <a:endParaRPr lang="ko-KR" sz="950" dirty="0"/>
          </a:p>
        </p:txBody>
      </p:sp>
      <p:pic>
        <p:nvPicPr>
          <p:cNvPr id="14"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96119" y="2766566"/>
            <a:ext cx="310083" cy="310083"/>
          </a:xfrm>
          <a:prstGeom prst="rect">
            <a:avLst/>
          </a:prstGeom>
        </p:spPr>
      </p:pic>
      <p:sp>
        <p:nvSpPr>
          <p:cNvPr id="15" name="Text 9"/>
          <p:cNvSpPr/>
          <p:nvPr/>
        </p:nvSpPr>
        <p:spPr>
          <a:xfrm>
            <a:off x="961206" y="2766566"/>
            <a:ext cx="1550566" cy="193849"/>
          </a:xfrm>
          <a:prstGeom prst="rect">
            <a:avLst/>
          </a:prstGeom>
          <a:noFill/>
          <a:ln/>
        </p:spPr>
        <p:txBody>
          <a:bodyPr wrap="none" lIns="0" tIns="0" rIns="0" bIns="0" rtlCol="0" anchor="t"/>
          <a:lstStyle/>
          <a:p>
            <a:pPr algn="l" indent="0" marL="0">
              <a:lnSpc>
                <a:spcPct val="104000"/>
              </a:lnSpc>
              <a:buNone/>
            </a:pPr>
            <a:r>
              <a:rPr lang="ko-KR" altLang="en-US" sz="1200" b="1" dirty="0">
                <a:solidFill>
                  <a:srgbClr val="272525"/>
                </a:solidFill>
                <a:latin typeface="Inter Bold" pitchFamily="34" charset="0"/>
                <a:ea typeface="Inter Bold" pitchFamily="34" charset="-122"/>
                <a:cs typeface="Inter Bold" pitchFamily="34" charset="-120"/>
              </a:rPr>
              <a:t>AI 공급자 독립성</a:t>
            </a:r>
            <a:endParaRPr lang="ko-KR" sz="1200" dirty="0"/>
          </a:p>
        </p:txBody>
      </p:sp>
      <p:sp>
        <p:nvSpPr>
          <p:cNvPr id="16" name="Text 10"/>
          <p:cNvSpPr/>
          <p:nvPr/>
        </p:nvSpPr>
        <p:spPr>
          <a:xfrm>
            <a:off x="961206" y="3034829"/>
            <a:ext cx="2148780" cy="396925"/>
          </a:xfrm>
          <a:prstGeom prst="rect">
            <a:avLst/>
          </a:prstGeom>
          <a:noFill/>
          <a:ln/>
        </p:spPr>
        <p:txBody>
          <a:bodyPr wrap="square" lIns="0" tIns="0" rIns="0" bIns="0" rtlCol="0" anchor="t">
            <a:normAutofit/>
          </a:bodyPr>
          <a:lstStyle/>
          <a:p>
            <a:pPr algn="l" indent="0" marL="0">
              <a:lnSpc>
                <a:spcPct val="133000"/>
              </a:lnSpc>
              <a:buNone/>
            </a:pPr>
            <a:r>
              <a:rPr lang="ko-KR" altLang="en-US" sz="950" dirty="0">
                <a:solidFill>
                  <a:srgbClr val="272525"/>
                </a:solidFill>
                <a:latin typeface="Inter" pitchFamily="34" charset="0"/>
                <a:ea typeface="Inter" pitchFamily="34" charset="-122"/>
                <a:cs typeface="Inter" pitchFamily="34" charset="-120"/>
              </a:rPr>
              <a:t>6개 AI 제공사 지원 </a:t>
            </a:r>
            <a:endParaRPr lang="ko-KR" sz="950" dirty="0"/>
          </a:p>
          <a:p>
            <a:pPr algn="l" indent="0" marL="0">
              <a:lnSpc>
                <a:spcPct val="133000"/>
              </a:lnSpc>
              <a:buNone/>
            </a:pPr>
            <a:r>
              <a:rPr lang="ko-KR" altLang="en-US" sz="950" dirty="0">
                <a:solidFill>
                  <a:srgbClr val="272525"/>
                </a:solidFill>
                <a:latin typeface="Inter" pitchFamily="34" charset="0"/>
                <a:ea typeface="Inter" pitchFamily="34" charset="-122"/>
                <a:cs typeface="Inter" pitchFamily="34" charset="-120"/>
              </a:rPr>
              <a:t>— 특정 서비스에 종속되지 않음</a:t>
            </a:r>
            <a:endParaRPr lang="ko-KR" sz="950" dirty="0"/>
          </a:p>
        </p:txBody>
      </p:sp>
      <p:pic>
        <p:nvPicPr>
          <p:cNvPr id="17"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264991" y="2766566"/>
            <a:ext cx="310083" cy="310083"/>
          </a:xfrm>
          <a:prstGeom prst="rect">
            <a:avLst/>
          </a:prstGeom>
        </p:spPr>
      </p:pic>
      <p:sp>
        <p:nvSpPr>
          <p:cNvPr id="18" name="Text 11"/>
          <p:cNvSpPr/>
          <p:nvPr/>
        </p:nvSpPr>
        <p:spPr>
          <a:xfrm>
            <a:off x="3730079" y="2766566"/>
            <a:ext cx="1550566" cy="193849"/>
          </a:xfrm>
          <a:prstGeom prst="rect">
            <a:avLst/>
          </a:prstGeom>
          <a:noFill/>
          <a:ln/>
        </p:spPr>
        <p:txBody>
          <a:bodyPr wrap="none" lIns="0" tIns="0" rIns="0" bIns="0" rtlCol="0" anchor="t"/>
          <a:lstStyle/>
          <a:p>
            <a:pPr algn="l" indent="0" marL="0">
              <a:lnSpc>
                <a:spcPct val="104000"/>
              </a:lnSpc>
              <a:buNone/>
            </a:pPr>
            <a:r>
              <a:rPr lang="ko-KR" altLang="en-US" sz="1200" b="1" dirty="0">
                <a:solidFill>
                  <a:srgbClr val="272525"/>
                </a:solidFill>
                <a:latin typeface="Inter Bold" pitchFamily="34" charset="0"/>
                <a:ea typeface="Inter Bold" pitchFamily="34" charset="-122"/>
                <a:cs typeface="Inter Bold" pitchFamily="34" charset="-120"/>
              </a:rPr>
              <a:t>비용 효율</a:t>
            </a:r>
            <a:endParaRPr lang="ko-KR" sz="1200" dirty="0"/>
          </a:p>
        </p:txBody>
      </p:sp>
      <p:sp>
        <p:nvSpPr>
          <p:cNvPr id="19" name="Text 12"/>
          <p:cNvSpPr/>
          <p:nvPr/>
        </p:nvSpPr>
        <p:spPr>
          <a:xfrm>
            <a:off x="3730079" y="3034829"/>
            <a:ext cx="2148855" cy="396925"/>
          </a:xfrm>
          <a:prstGeom prst="rect">
            <a:avLst/>
          </a:prstGeom>
          <a:noFill/>
          <a:ln/>
        </p:spPr>
        <p:txBody>
          <a:bodyPr wrap="square" lIns="0" tIns="0" rIns="0" bIns="0" rtlCol="0" anchor="t">
            <a:normAutofit/>
          </a:bodyPr>
          <a:lstStyle/>
          <a:p>
            <a:pPr algn="l" indent="0" marL="0">
              <a:lnSpc>
                <a:spcPct val="133000"/>
              </a:lnSpc>
              <a:buNone/>
            </a:pPr>
            <a:r>
              <a:rPr lang="ko-KR" altLang="en-US" sz="950" dirty="0">
                <a:solidFill>
                  <a:srgbClr val="272525"/>
                </a:solidFill>
                <a:latin typeface="Inter" pitchFamily="34" charset="0"/>
                <a:ea typeface="Inter" pitchFamily="34" charset="-122"/>
                <a:cs typeface="Inter" pitchFamily="34" charset="-120"/>
              </a:rPr>
              <a:t>사용자 본인 API 키 사용 — 별도 구독 없이 원하는 모델 자유 선택</a:t>
            </a:r>
            <a:endParaRPr lang="ko-KR" sz="950" dirty="0"/>
          </a:p>
        </p:txBody>
      </p:sp>
      <p:pic>
        <p:nvPicPr>
          <p:cNvPr id="20"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033939" y="2766566"/>
            <a:ext cx="310083" cy="310083"/>
          </a:xfrm>
          <a:prstGeom prst="rect">
            <a:avLst/>
          </a:prstGeom>
        </p:spPr>
      </p:pic>
      <p:sp>
        <p:nvSpPr>
          <p:cNvPr id="21" name="Text 13"/>
          <p:cNvSpPr/>
          <p:nvPr/>
        </p:nvSpPr>
        <p:spPr>
          <a:xfrm>
            <a:off x="6499027" y="2766566"/>
            <a:ext cx="1550566" cy="193849"/>
          </a:xfrm>
          <a:prstGeom prst="rect">
            <a:avLst/>
          </a:prstGeom>
          <a:noFill/>
          <a:ln/>
        </p:spPr>
        <p:txBody>
          <a:bodyPr wrap="none" lIns="0" tIns="0" rIns="0" bIns="0" rtlCol="0" anchor="t"/>
          <a:lstStyle/>
          <a:p>
            <a:pPr algn="l" indent="0" marL="0">
              <a:lnSpc>
                <a:spcPct val="104000"/>
              </a:lnSpc>
              <a:buNone/>
            </a:pPr>
            <a:r>
              <a:rPr lang="ko-KR" altLang="en-US" sz="1200" b="1" dirty="0">
                <a:solidFill>
                  <a:srgbClr val="272525"/>
                </a:solidFill>
                <a:latin typeface="Inter Bold" pitchFamily="34" charset="0"/>
                <a:ea typeface="Inter Bold" pitchFamily="34" charset="-122"/>
                <a:cs typeface="Inter Bold" pitchFamily="34" charset="-120"/>
              </a:rPr>
              <a:t>프라이버시</a:t>
            </a:r>
            <a:endParaRPr lang="ko-KR" sz="1200" dirty="0"/>
          </a:p>
        </p:txBody>
      </p:sp>
      <p:sp>
        <p:nvSpPr>
          <p:cNvPr id="22" name="Text 14"/>
          <p:cNvSpPr/>
          <p:nvPr/>
        </p:nvSpPr>
        <p:spPr>
          <a:xfrm>
            <a:off x="6499027" y="3034829"/>
            <a:ext cx="2148855" cy="396925"/>
          </a:xfrm>
          <a:prstGeom prst="rect">
            <a:avLst/>
          </a:prstGeom>
          <a:noFill/>
          <a:ln/>
        </p:spPr>
        <p:txBody>
          <a:bodyPr wrap="square" lIns="0" tIns="0" rIns="0" bIns="0" rtlCol="0" anchor="t">
            <a:normAutofit/>
          </a:bodyPr>
          <a:lstStyle/>
          <a:p>
            <a:pPr algn="l" indent="0" marL="0">
              <a:lnSpc>
                <a:spcPct val="133000"/>
              </a:lnSpc>
              <a:buNone/>
            </a:pPr>
            <a:r>
              <a:rPr lang="ko-KR" altLang="en-US" sz="950" dirty="0">
                <a:solidFill>
                  <a:srgbClr val="272525"/>
                </a:solidFill>
                <a:latin typeface="Inter" pitchFamily="34" charset="0"/>
                <a:ea typeface="Inter" pitchFamily="34" charset="-122"/>
                <a:cs typeface="Inter" pitchFamily="34" charset="-120"/>
              </a:rPr>
              <a:t>외부 서버 없이 기기에서만 동작, 텍스트가 선택한 AI API 외부로 전송되지 않음</a:t>
            </a:r>
            <a:endParaRPr lang="ko-KR" sz="950" dirty="0"/>
          </a:p>
        </p:txBody>
      </p:sp>
      <p:pic>
        <p:nvPicPr>
          <p:cNvPr id="23"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496119" y="3679775"/>
            <a:ext cx="310083" cy="310083"/>
          </a:xfrm>
          <a:prstGeom prst="rect">
            <a:avLst/>
          </a:prstGeom>
        </p:spPr>
      </p:pic>
      <p:sp>
        <p:nvSpPr>
          <p:cNvPr id="24" name="Text 15"/>
          <p:cNvSpPr/>
          <p:nvPr/>
        </p:nvSpPr>
        <p:spPr>
          <a:xfrm>
            <a:off x="961206" y="3679775"/>
            <a:ext cx="1550566" cy="193849"/>
          </a:xfrm>
          <a:prstGeom prst="rect">
            <a:avLst/>
          </a:prstGeom>
          <a:noFill/>
          <a:ln/>
        </p:spPr>
        <p:txBody>
          <a:bodyPr wrap="none" lIns="0" tIns="0" rIns="0" bIns="0" rtlCol="0" anchor="t"/>
          <a:lstStyle/>
          <a:p>
            <a:pPr algn="l" indent="0" marL="0">
              <a:lnSpc>
                <a:spcPct val="104000"/>
              </a:lnSpc>
              <a:buNone/>
            </a:pPr>
            <a:r>
              <a:rPr lang="ko-KR" altLang="en-US" sz="1200" b="1" dirty="0">
                <a:solidFill>
                  <a:srgbClr val="272525"/>
                </a:solidFill>
                <a:latin typeface="Inter Bold" pitchFamily="34" charset="0"/>
                <a:ea typeface="Inter Bold" pitchFamily="34" charset="-122"/>
                <a:cs typeface="Inter Bold" pitchFamily="34" charset="-120"/>
              </a:rPr>
              <a:t>확장성</a:t>
            </a:r>
            <a:endParaRPr lang="ko-KR" sz="1200" dirty="0"/>
          </a:p>
        </p:txBody>
      </p:sp>
      <p:sp>
        <p:nvSpPr>
          <p:cNvPr id="25" name="Text 16"/>
          <p:cNvSpPr/>
          <p:nvPr/>
        </p:nvSpPr>
        <p:spPr>
          <a:xfrm>
            <a:off x="961206" y="3948038"/>
            <a:ext cx="2148780" cy="396925"/>
          </a:xfrm>
          <a:prstGeom prst="rect">
            <a:avLst/>
          </a:prstGeom>
          <a:noFill/>
          <a:ln/>
        </p:spPr>
        <p:txBody>
          <a:bodyPr wrap="square" lIns="0" tIns="0" rIns="0" bIns="0" rtlCol="0" anchor="t">
            <a:normAutofit/>
          </a:bodyPr>
          <a:lstStyle/>
          <a:p>
            <a:pPr algn="l" indent="0" marL="0">
              <a:lnSpc>
                <a:spcPct val="133000"/>
              </a:lnSpc>
              <a:buNone/>
            </a:pPr>
            <a:r>
              <a:rPr lang="ko-KR" altLang="en-US" sz="950" dirty="0">
                <a:solidFill>
                  <a:srgbClr val="272525"/>
                </a:solidFill>
                <a:latin typeface="Inter" pitchFamily="34" charset="0"/>
                <a:ea typeface="Inter" pitchFamily="34" charset="-122"/>
                <a:cs typeface="Inter" pitchFamily="34" charset="-120"/>
              </a:rPr>
              <a:t>OpenAI 호환 Custom API 지원으로 사내 LLM, 로컬 모델 등 연결 가능</a:t>
            </a:r>
            <a:endParaRPr lang="ko-KR"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496119" y="895573"/>
            <a:ext cx="541809" cy="233214"/>
          </a:xfrm>
          <a:prstGeom prst="roundRect">
            <a:avLst>
              <a:gd name="adj" fmla="val 17872"/>
            </a:avLst>
          </a:prstGeom>
          <a:solidFill>
            <a:srgbClr val="DADBF1"/>
          </a:solidFill>
          <a:ln/>
        </p:spPr>
      </p:sp>
      <p:sp>
        <p:nvSpPr>
          <p:cNvPr id="3" name="Text 1"/>
          <p:cNvSpPr/>
          <p:nvPr/>
        </p:nvSpPr>
        <p:spPr>
          <a:xfrm>
            <a:off x="570533" y="932780"/>
            <a:ext cx="850181" cy="158800"/>
          </a:xfrm>
          <a:prstGeom prst="rect">
            <a:avLst/>
          </a:prstGeom>
          <a:noFill/>
          <a:ln/>
        </p:spPr>
        <p:txBody>
          <a:bodyPr wrap="none" lIns="0" tIns="0" rIns="0" bIns="0" rtlCol="0" anchor="t"/>
          <a:lstStyle/>
          <a:p>
            <a:pPr algn="l" indent="0" marL="0">
              <a:lnSpc>
                <a:spcPct val="133000"/>
              </a:lnSpc>
              <a:buNone/>
            </a:pPr>
            <a:r>
              <a:rPr lang="ko-KR" altLang="en-US" sz="750" dirty="0">
                <a:solidFill>
                  <a:srgbClr val="272525"/>
                </a:solidFill>
                <a:latin typeface="Inter" pitchFamily="34" charset="0"/>
                <a:ea typeface="Inter" pitchFamily="34" charset="-122"/>
                <a:cs typeface="Inter" pitchFamily="34" charset="-120"/>
              </a:rPr>
              <a:t>지원 환경</a:t>
            </a:r>
            <a:endParaRPr lang="ko-KR" sz="750" dirty="0"/>
          </a:p>
        </p:txBody>
      </p:sp>
      <p:sp>
        <p:nvSpPr>
          <p:cNvPr id="4" name="Text 2"/>
          <p:cNvSpPr/>
          <p:nvPr/>
        </p:nvSpPr>
        <p:spPr>
          <a:xfrm>
            <a:off x="496119" y="1178347"/>
            <a:ext cx="3560118" cy="387548"/>
          </a:xfrm>
          <a:prstGeom prst="rect">
            <a:avLst/>
          </a:prstGeom>
          <a:noFill/>
          <a:ln/>
        </p:spPr>
        <p:txBody>
          <a:bodyPr wrap="none" lIns="0" tIns="0" rIns="0" bIns="0" rtlCol="0" anchor="t"/>
          <a:lstStyle/>
          <a:p>
            <a:pPr algn="l" indent="0" marL="0">
              <a:lnSpc>
                <a:spcPct val="104000"/>
              </a:lnSpc>
              <a:buNone/>
            </a:pPr>
            <a:r>
              <a:rPr lang="ko-KR" altLang="en-US" sz="2400" b="1" dirty="0">
                <a:solidFill>
                  <a:srgbClr val="000000"/>
                </a:solidFill>
                <a:latin typeface="Inter Bold" pitchFamily="34" charset="0"/>
                <a:ea typeface="Inter Bold" pitchFamily="34" charset="-122"/>
                <a:cs typeface="Inter Bold" pitchFamily="34" charset="-120"/>
              </a:rPr>
              <a:t>지원 플랫폼 &amp; AI 제공사</a:t>
            </a:r>
            <a:endParaRPr lang="ko-KR" sz="2400" dirty="0"/>
          </a:p>
        </p:txBody>
      </p:sp>
      <p:sp>
        <p:nvSpPr>
          <p:cNvPr id="5" name="Text 3"/>
          <p:cNvSpPr/>
          <p:nvPr/>
        </p:nvSpPr>
        <p:spPr>
          <a:xfrm>
            <a:off x="496119" y="1875904"/>
            <a:ext cx="2007766" cy="198611"/>
          </a:xfrm>
          <a:prstGeom prst="rect">
            <a:avLst/>
          </a:prstGeom>
          <a:noFill/>
          <a:ln/>
        </p:spPr>
        <p:txBody>
          <a:bodyPr wrap="none" lIns="0" tIns="0" rIns="0" bIns="0" rtlCol="0" anchor="t"/>
          <a:lstStyle/>
          <a:p>
            <a:pPr algn="l" indent="0" marL="0">
              <a:lnSpc>
                <a:spcPct val="104000"/>
              </a:lnSpc>
              <a:buNone/>
            </a:pPr>
            <a:r>
              <a:rPr lang="ko-KR" altLang="en-US" sz="1200" b="1"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ko-KR" altLang="en-US" sz="1200" b="1" dirty="0">
                <a:solidFill>
                  <a:srgbClr val="000000"/>
                </a:solidFill>
                <a:latin typeface="Inter Bold" pitchFamily="34" charset="0"/>
                <a:ea typeface="Inter Bold" pitchFamily="34" charset="-122"/>
                <a:cs typeface="Inter Bold" pitchFamily="34" charset="-120"/>
              </a:rPr>
              <a:t> 지원 OS 플랫폼</a:t>
            </a:r>
            <a:endParaRPr lang="ko-KR" sz="1200" dirty="0"/>
          </a:p>
        </p:txBody>
      </p:sp>
      <p:sp>
        <p:nvSpPr>
          <p:cNvPr id="6" name="Text 4"/>
          <p:cNvSpPr/>
          <p:nvPr/>
        </p:nvSpPr>
        <p:spPr>
          <a:xfrm>
            <a:off x="496119" y="2198489"/>
            <a:ext cx="3924598" cy="682154"/>
          </a:xfrm>
          <a:prstGeom prst="rect">
            <a:avLst/>
          </a:prstGeom>
          <a:noFill/>
          <a:ln/>
        </p:spPr>
        <p:txBody>
          <a:bodyPr wrap="square" lIns="0" tIns="0" rIns="0" bIns="0" rtlCol="0" anchor="t">
            <a:normAutofit/>
          </a:bodyPr>
          <a:lstStyle/>
          <a:p>
            <a:pPr algn="l" marL="193040" indent="-193040">
              <a:lnSpc>
                <a:spcPct val="133000"/>
              </a:lnSpc>
              <a:buSzPct val="100000"/>
              <a:buChar char="•"/>
            </a:pPr>
            <a:r>
              <a:rPr lang="ko-KR" altLang="en-US" sz="950" b="1" dirty="0">
                <a:solidFill>
                  <a:srgbClr val="272525"/>
                </a:solidFill>
                <a:latin typeface="Inter Bold" pitchFamily="34" charset="0"/>
                <a:ea typeface="Inter Bold" pitchFamily="34" charset="-122"/>
                <a:cs typeface="Inter Bold" pitchFamily="34" charset="-120"/>
              </a:rPr>
              <a:t>Windows</a:t>
            </a:r>
            <a:pPr algn="l" marL="193040" indent="-193040">
              <a:lnSpc>
                <a:spcPct val="133000"/>
              </a:lnSpc>
              <a:buSzPct val="100000"/>
              <a:buChar char="•"/>
            </a:pPr>
            <a:r>
              <a:rPr lang="ko-KR" altLang="en-US" sz="950" dirty="0">
                <a:solidFill>
                  <a:srgbClr val="272525"/>
                </a:solidFill>
                <a:latin typeface="Inter" pitchFamily="34" charset="0"/>
                <a:ea typeface="Inter" pitchFamily="34" charset="-122"/>
                <a:cs typeface="Inter" pitchFamily="34" charset="-120"/>
              </a:rPr>
              <a:t> — .msi 설치, Alt+Space 단축키, UI Automation 접근성</a:t>
            </a:r>
            <a:endParaRPr lang="ko-KR" sz="950" dirty="0"/>
          </a:p>
          <a:p>
            <a:pPr algn="l" marL="193040" indent="-193040">
              <a:lnSpc>
                <a:spcPct val="133000"/>
              </a:lnSpc>
              <a:buSzPct val="100000"/>
              <a:buChar char="•"/>
            </a:pPr>
            <a:r>
              <a:rPr lang="ko-KR" altLang="en-US" sz="950" b="1" dirty="0">
                <a:solidFill>
                  <a:srgbClr val="272525"/>
                </a:solidFill>
                <a:latin typeface="Inter Bold" pitchFamily="34" charset="0"/>
                <a:ea typeface="Inter Bold" pitchFamily="34" charset="-122"/>
                <a:cs typeface="Inter Bold" pitchFamily="34" charset="-120"/>
              </a:rPr>
              <a:t>macOS</a:t>
            </a:r>
            <a:pPr algn="l" marL="193040" indent="-193040">
              <a:lnSpc>
                <a:spcPct val="133000"/>
              </a:lnSpc>
              <a:buSzPct val="100000"/>
              <a:buChar char="•"/>
            </a:pPr>
            <a:r>
              <a:rPr lang="ko-KR" altLang="en-US" sz="950" dirty="0">
                <a:solidFill>
                  <a:srgbClr val="272525"/>
                </a:solidFill>
                <a:latin typeface="Inter" pitchFamily="34" charset="0"/>
                <a:ea typeface="Inter" pitchFamily="34" charset="-122"/>
                <a:cs typeface="Inter" pitchFamily="34" charset="-120"/>
              </a:rPr>
              <a:t> — .dmg 설치, Option+Space 단축키, AXUIElement 접근성</a:t>
            </a:r>
            <a:endParaRPr lang="ko-KR" sz="950" dirty="0"/>
          </a:p>
          <a:p>
            <a:pPr algn="l" marL="193040" indent="-193040">
              <a:lnSpc>
                <a:spcPct val="133000"/>
              </a:lnSpc>
              <a:buSzPct val="100000"/>
              <a:buChar char="•"/>
            </a:pPr>
            <a:r>
              <a:rPr lang="ko-KR" altLang="en-US" sz="950" b="1" dirty="0">
                <a:solidFill>
                  <a:srgbClr val="272525"/>
                </a:solidFill>
                <a:latin typeface="Inter Bold" pitchFamily="34" charset="0"/>
                <a:ea typeface="Inter Bold" pitchFamily="34" charset="-122"/>
                <a:cs typeface="Inter Bold" pitchFamily="34" charset="-120"/>
              </a:rPr>
              <a:t>Linux</a:t>
            </a:r>
            <a:pPr algn="l" marL="193040" indent="-193040">
              <a:lnSpc>
                <a:spcPct val="133000"/>
              </a:lnSpc>
              <a:buSzPct val="100000"/>
              <a:buChar char="•"/>
            </a:pPr>
            <a:r>
              <a:rPr lang="ko-KR" altLang="en-US" sz="950" dirty="0">
                <a:solidFill>
                  <a:srgbClr val="272525"/>
                </a:solidFill>
                <a:latin typeface="Inter" pitchFamily="34" charset="0"/>
                <a:ea typeface="Inter" pitchFamily="34" charset="-122"/>
                <a:cs typeface="Inter" pitchFamily="34" charset="-120"/>
              </a:rPr>
              <a:t> — .deb / .AppImage, Alt+Space 단축키, xdotool 접근성</a:t>
            </a:r>
            <a:endParaRPr lang="ko-KR" sz="950" dirty="0"/>
          </a:p>
        </p:txBody>
      </p:sp>
      <p:sp>
        <p:nvSpPr>
          <p:cNvPr id="7" name="Text 5"/>
          <p:cNvSpPr/>
          <p:nvPr/>
        </p:nvSpPr>
        <p:spPr>
          <a:xfrm>
            <a:off x="496119" y="2992264"/>
            <a:ext cx="3924598" cy="508546"/>
          </a:xfrm>
          <a:prstGeom prst="rect">
            <a:avLst/>
          </a:prstGeom>
          <a:noFill/>
          <a:ln/>
        </p:spPr>
        <p:txBody>
          <a:bodyPr wrap="square" lIns="0" tIns="0" rIns="0" bIns="0" rtlCol="0" anchor="t"/>
          <a:lstStyle/>
          <a:p>
            <a:pPr algn="l" indent="0" marL="0">
              <a:lnSpc>
                <a:spcPct val="133000"/>
              </a:lnSpc>
              <a:buNone/>
            </a:pPr>
            <a:r>
              <a:rPr lang="ko-KR" altLang="en-US" sz="950" dirty="0">
                <a:solidFill>
                  <a:srgbClr val="272525"/>
                </a:solidFill>
                <a:latin typeface="Inter" pitchFamily="34" charset="0"/>
                <a:ea typeface="Inter" pitchFamily="34" charset="-122"/>
                <a:cs typeface="Inter" pitchFamily="34" charset="-120"/>
              </a:rPr>
              <a:t>한 줄 설치: </a:t>
            </a:r>
            <a:pPr algn="l" indent="0" marL="0">
              <a:lnSpc>
                <a:spcPct val="133000"/>
              </a:lnSpc>
              <a:buNone/>
            </a:pPr>
            <a:r>
              <a:rPr lang="ko-KR" altLang="en-US" sz="950" dirty="0">
                <a:solidFill>
                  <a:srgbClr val="272525"/>
                </a:solidFill>
                <a:highlight>
                  <a:srgbClr val="F2F2F2"/>
                </a:highlight>
                <a:latin typeface="Consolas" pitchFamily="34" charset="0"/>
                <a:ea typeface="Consolas" pitchFamily="34" charset="-122"/>
                <a:cs typeface="Consolas" pitchFamily="34" charset="-120"/>
              </a:rPr>
              <a:t>curl</a:t>
            </a:r>
            <a:pPr algn="l" indent="0" marL="0">
              <a:lnSpc>
                <a:spcPct val="133000"/>
              </a:lnSpc>
              <a:buNone/>
            </a:pPr>
            <a:r>
              <a:rPr lang="ko-KR" altLang="en-US" sz="950" dirty="0">
                <a:solidFill>
                  <a:srgbClr val="272525"/>
                </a:solidFill>
                <a:latin typeface="Inter" pitchFamily="34" charset="0"/>
                <a:ea typeface="Inter" pitchFamily="34" charset="-122"/>
                <a:cs typeface="Inter" pitchFamily="34" charset="-120"/>
              </a:rPr>
              <a:t> (macOS/Linux) / </a:t>
            </a:r>
            <a:pPr algn="l" indent="0" marL="0">
              <a:lnSpc>
                <a:spcPct val="133000"/>
              </a:lnSpc>
              <a:buNone/>
            </a:pPr>
            <a:r>
              <a:rPr lang="ko-KR" altLang="en-US" sz="950" dirty="0">
                <a:solidFill>
                  <a:srgbClr val="272525"/>
                </a:solidFill>
                <a:highlight>
                  <a:srgbClr val="F2F2F2"/>
                </a:highlight>
                <a:latin typeface="Consolas" pitchFamily="34" charset="0"/>
                <a:ea typeface="Consolas" pitchFamily="34" charset="-122"/>
                <a:cs typeface="Consolas" pitchFamily="34" charset="-120"/>
              </a:rPr>
              <a:t>PowerShell</a:t>
            </a:r>
            <a:pPr algn="l" indent="0" marL="0">
              <a:lnSpc>
                <a:spcPct val="133000"/>
              </a:lnSpc>
              <a:spcAft>
                <a:spcPts val="850"/>
              </a:spcAft>
              <a:buNone/>
            </a:pPr>
            <a:r>
              <a:rPr lang="ko-KR" altLang="en-US" sz="950" dirty="0">
                <a:solidFill>
                  <a:srgbClr val="272525"/>
                </a:solidFill>
                <a:latin typeface="Inter" pitchFamily="34" charset="0"/>
                <a:ea typeface="Inter" pitchFamily="34" charset="-122"/>
                <a:cs typeface="Inter" pitchFamily="34" charset="-120"/>
              </a:rPr>
              <a:t> (Windows)</a:t>
            </a:r>
            <a:endParaRPr lang="ko-KR" sz="950" dirty="0"/>
          </a:p>
          <a:p>
            <a:pPr algn="l" indent="0" marL="0">
              <a:lnSpc>
                <a:spcPct val="133000"/>
              </a:lnSpc>
              <a:buNone/>
            </a:pPr>
            <a:r>
              <a:rPr lang="ko-KR" altLang="en-US" sz="950" dirty="0">
                <a:solidFill>
                  <a:srgbClr val="272525"/>
                </a:solidFill>
                <a:latin typeface="Inter" pitchFamily="34" charset="0"/>
                <a:ea typeface="Inter" pitchFamily="34" charset="-122"/>
                <a:cs typeface="Inter" pitchFamily="34" charset="-120"/>
              </a:rPr>
              <a:t>GitHub Actions CI/CD — 버전 태그 push 시 3개 플랫폼 빌드 자동 배포</a:t>
            </a:r>
            <a:endParaRPr lang="ko-KR" sz="950" dirty="0"/>
          </a:p>
        </p:txBody>
      </p:sp>
      <p:sp>
        <p:nvSpPr>
          <p:cNvPr id="8" name="Text 6"/>
          <p:cNvSpPr/>
          <p:nvPr/>
        </p:nvSpPr>
        <p:spPr>
          <a:xfrm>
            <a:off x="4728046" y="1875904"/>
            <a:ext cx="2007766" cy="198611"/>
          </a:xfrm>
          <a:prstGeom prst="rect">
            <a:avLst/>
          </a:prstGeom>
          <a:noFill/>
          <a:ln/>
        </p:spPr>
        <p:txBody>
          <a:bodyPr wrap="none" lIns="0" tIns="0" rIns="0" bIns="0" rtlCol="0" anchor="t"/>
          <a:lstStyle/>
          <a:p>
            <a:pPr algn="l" indent="0" marL="0">
              <a:lnSpc>
                <a:spcPct val="104000"/>
              </a:lnSpc>
              <a:buNone/>
            </a:pPr>
            <a:r>
              <a:rPr lang="ko-KR" altLang="en-US" sz="1200" b="1"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ko-KR" altLang="en-US" sz="1200" b="1" dirty="0">
                <a:solidFill>
                  <a:srgbClr val="000000"/>
                </a:solidFill>
                <a:latin typeface="Inter Bold" pitchFamily="34" charset="0"/>
                <a:ea typeface="Inter Bold" pitchFamily="34" charset="-122"/>
                <a:cs typeface="Inter Bold" pitchFamily="34" charset="-120"/>
              </a:rPr>
              <a:t> 지원 AI 제공사</a:t>
            </a:r>
            <a:endParaRPr lang="ko-KR" sz="1200" dirty="0"/>
          </a:p>
        </p:txBody>
      </p:sp>
      <p:sp>
        <p:nvSpPr>
          <p:cNvPr id="9" name="Text 7"/>
          <p:cNvSpPr/>
          <p:nvPr/>
        </p:nvSpPr>
        <p:spPr>
          <a:xfrm>
            <a:off x="4728046" y="2198489"/>
            <a:ext cx="3924598" cy="1165845"/>
          </a:xfrm>
          <a:prstGeom prst="rect">
            <a:avLst/>
          </a:prstGeom>
          <a:noFill/>
          <a:ln/>
        </p:spPr>
        <p:txBody>
          <a:bodyPr wrap="square" lIns="0" tIns="0" rIns="0" bIns="0" rtlCol="0" anchor="t">
            <a:normAutofit/>
          </a:bodyPr>
          <a:lstStyle/>
          <a:p>
            <a:pPr algn="l" marL="193040" indent="-193040">
              <a:lnSpc>
                <a:spcPct val="133000"/>
              </a:lnSpc>
              <a:buSzPct val="100000"/>
              <a:buChar char="•"/>
            </a:pPr>
            <a:r>
              <a:rPr lang="ko-KR" altLang="en-US" sz="950" b="1" dirty="0">
                <a:solidFill>
                  <a:srgbClr val="272525"/>
                </a:solidFill>
                <a:latin typeface="Inter Bold" pitchFamily="34" charset="0"/>
                <a:ea typeface="Inter Bold" pitchFamily="34" charset="-122"/>
                <a:cs typeface="Inter Bold" pitchFamily="34" charset="-120"/>
              </a:rPr>
              <a:t>OpenAI</a:t>
            </a:r>
            <a:pPr algn="l" marL="193040" indent="-193040">
              <a:lnSpc>
                <a:spcPct val="133000"/>
              </a:lnSpc>
              <a:buSzPct val="100000"/>
              <a:buChar char="•"/>
            </a:pPr>
            <a:r>
              <a:rPr lang="ko-KR" altLang="en-US" sz="950" dirty="0">
                <a:solidFill>
                  <a:srgbClr val="272525"/>
                </a:solidFill>
                <a:latin typeface="Inter" pitchFamily="34" charset="0"/>
                <a:ea typeface="Inter" pitchFamily="34" charset="-122"/>
                <a:cs typeface="Inter" pitchFamily="34" charset="-120"/>
              </a:rPr>
              <a:t> — GPT-4o / GPT-4 Turbo 등 최신 모델</a:t>
            </a:r>
            <a:endParaRPr lang="ko-KR" sz="950" dirty="0"/>
          </a:p>
          <a:p>
            <a:pPr algn="l" marL="193040" indent="-193040">
              <a:lnSpc>
                <a:spcPct val="133000"/>
              </a:lnSpc>
              <a:buSzPct val="100000"/>
              <a:buChar char="•"/>
            </a:pPr>
            <a:r>
              <a:rPr lang="ko-KR" altLang="en-US" sz="950" b="1" dirty="0">
                <a:solidFill>
                  <a:srgbClr val="272525"/>
                </a:solidFill>
                <a:latin typeface="Inter Bold" pitchFamily="34" charset="0"/>
                <a:ea typeface="Inter Bold" pitchFamily="34" charset="-122"/>
                <a:cs typeface="Inter Bold" pitchFamily="34" charset="-120"/>
              </a:rPr>
              <a:t>Anthropic</a:t>
            </a:r>
            <a:pPr algn="l" marL="193040" indent="-193040">
              <a:lnSpc>
                <a:spcPct val="133000"/>
              </a:lnSpc>
              <a:buSzPct val="100000"/>
              <a:buChar char="•"/>
            </a:pPr>
            <a:r>
              <a:rPr lang="ko-KR" altLang="en-US" sz="950" dirty="0">
                <a:solidFill>
                  <a:srgbClr val="272525"/>
                </a:solidFill>
                <a:latin typeface="Inter" pitchFamily="34" charset="0"/>
                <a:ea typeface="Inter" pitchFamily="34" charset="-122"/>
                <a:cs typeface="Inter" pitchFamily="34" charset="-120"/>
              </a:rPr>
              <a:t> — Claude 3.5 Sonnet / Opus</a:t>
            </a:r>
            <a:endParaRPr lang="ko-KR" sz="950" dirty="0"/>
          </a:p>
          <a:p>
            <a:pPr algn="l" marL="193040" indent="-193040">
              <a:lnSpc>
                <a:spcPct val="133000"/>
              </a:lnSpc>
              <a:buSzPct val="100000"/>
              <a:buChar char="•"/>
            </a:pPr>
            <a:r>
              <a:rPr lang="ko-KR" altLang="en-US" sz="950" b="1" dirty="0">
                <a:solidFill>
                  <a:srgbClr val="272525"/>
                </a:solidFill>
                <a:latin typeface="Inter Bold" pitchFamily="34" charset="0"/>
                <a:ea typeface="Inter Bold" pitchFamily="34" charset="-122"/>
                <a:cs typeface="Inter Bold" pitchFamily="34" charset="-120"/>
              </a:rPr>
              <a:t>Google</a:t>
            </a:r>
            <a:pPr algn="l" marL="193040" indent="-193040">
              <a:lnSpc>
                <a:spcPct val="133000"/>
              </a:lnSpc>
              <a:buSzPct val="100000"/>
              <a:buChar char="•"/>
            </a:pPr>
            <a:r>
              <a:rPr lang="ko-KR" altLang="en-US" sz="950" dirty="0">
                <a:solidFill>
                  <a:srgbClr val="272525"/>
                </a:solidFill>
                <a:latin typeface="Inter" pitchFamily="34" charset="0"/>
                <a:ea typeface="Inter" pitchFamily="34" charset="-122"/>
                <a:cs typeface="Inter" pitchFamily="34" charset="-120"/>
              </a:rPr>
              <a:t> — Gemini 1.5 Pro / Flash</a:t>
            </a:r>
            <a:endParaRPr lang="ko-KR" sz="950" dirty="0"/>
          </a:p>
          <a:p>
            <a:pPr algn="l" marL="193040" indent="-193040">
              <a:lnSpc>
                <a:spcPct val="133000"/>
              </a:lnSpc>
              <a:buSzPct val="100000"/>
              <a:buChar char="•"/>
            </a:pPr>
            <a:r>
              <a:rPr lang="ko-KR" altLang="en-US" sz="950" b="1" dirty="0">
                <a:solidFill>
                  <a:srgbClr val="272525"/>
                </a:solidFill>
                <a:latin typeface="Inter Bold" pitchFamily="34" charset="0"/>
                <a:ea typeface="Inter Bold" pitchFamily="34" charset="-122"/>
                <a:cs typeface="Inter Bold" pitchFamily="34" charset="-120"/>
              </a:rPr>
              <a:t>AWS Bedrock</a:t>
            </a:r>
            <a:pPr algn="l" marL="193040" indent="-193040">
              <a:lnSpc>
                <a:spcPct val="133000"/>
              </a:lnSpc>
              <a:buSzPct val="100000"/>
              <a:buChar char="•"/>
            </a:pPr>
            <a:r>
              <a:rPr lang="ko-KR" altLang="en-US" sz="950" dirty="0">
                <a:solidFill>
                  <a:srgbClr val="272525"/>
                </a:solidFill>
                <a:latin typeface="Inter" pitchFamily="34" charset="0"/>
                <a:ea typeface="Inter" pitchFamily="34" charset="-122"/>
                <a:cs typeface="Inter" pitchFamily="34" charset="-120"/>
              </a:rPr>
              <a:t> — Claude, Llama, Titan 등</a:t>
            </a:r>
            <a:endParaRPr lang="ko-KR" sz="950" dirty="0"/>
          </a:p>
          <a:p>
            <a:pPr algn="l" marL="193040" indent="-193040">
              <a:lnSpc>
                <a:spcPct val="133000"/>
              </a:lnSpc>
              <a:buSzPct val="100000"/>
              <a:buChar char="•"/>
            </a:pPr>
            <a:r>
              <a:rPr lang="ko-KR" altLang="en-US" sz="950" b="1" dirty="0">
                <a:solidFill>
                  <a:srgbClr val="272525"/>
                </a:solidFill>
                <a:latin typeface="Inter Bold" pitchFamily="34" charset="0"/>
                <a:ea typeface="Inter Bold" pitchFamily="34" charset="-122"/>
                <a:cs typeface="Inter Bold" pitchFamily="34" charset="-120"/>
              </a:rPr>
              <a:t>OpenRouter</a:t>
            </a:r>
            <a:pPr algn="l" marL="193040" indent="-193040">
              <a:lnSpc>
                <a:spcPct val="133000"/>
              </a:lnSpc>
              <a:buSzPct val="100000"/>
              <a:buChar char="•"/>
            </a:pPr>
            <a:r>
              <a:rPr lang="ko-KR" altLang="en-US" sz="950" dirty="0">
                <a:solidFill>
                  <a:srgbClr val="272525"/>
                </a:solidFill>
                <a:latin typeface="Inter" pitchFamily="34" charset="0"/>
                <a:ea typeface="Inter" pitchFamily="34" charset="-122"/>
                <a:cs typeface="Inter" pitchFamily="34" charset="-120"/>
              </a:rPr>
              <a:t> — 100+ 모델 통합 접근</a:t>
            </a:r>
            <a:endParaRPr lang="ko-KR" sz="950" dirty="0"/>
          </a:p>
        </p:txBody>
      </p:sp>
      <p:sp>
        <p:nvSpPr>
          <p:cNvPr id="10" name="Shape 8"/>
          <p:cNvSpPr/>
          <p:nvPr/>
        </p:nvSpPr>
        <p:spPr>
          <a:xfrm>
            <a:off x="496119" y="3751957"/>
            <a:ext cx="8151763" cy="495970"/>
          </a:xfrm>
          <a:prstGeom prst="roundRect">
            <a:avLst>
              <a:gd name="adj" fmla="val 10505"/>
            </a:avLst>
          </a:prstGeom>
          <a:solidFill>
            <a:srgbClr val="DADBF1"/>
          </a:solidFill>
          <a:ln/>
        </p:spPr>
      </p:sp>
      <p:pic>
        <p:nvPicPr>
          <p:cNvPr id="11" name="Image 0" descr="preencoded.png">    </p:cNvPr>
          <p:cNvPicPr>
            <a:picLocks noChangeAspect="1"/>
          </p:cNvPicPr>
          <p:nvPr/>
        </p:nvPicPr>
        <p:blipFill>
          <a:blip r:embed="rId1"/>
          <a:stretch>
            <a:fillRect/>
          </a:stretch>
        </p:blipFill>
        <p:spPr>
          <a:xfrm>
            <a:off x="620092" y="3931741"/>
            <a:ext cx="155004" cy="123974"/>
          </a:xfrm>
          <a:prstGeom prst="rect">
            <a:avLst/>
          </a:prstGeom>
        </p:spPr>
      </p:pic>
      <p:sp>
        <p:nvSpPr>
          <p:cNvPr id="12" name="Text 9"/>
          <p:cNvSpPr/>
          <p:nvPr/>
        </p:nvSpPr>
        <p:spPr>
          <a:xfrm>
            <a:off x="899071" y="3906887"/>
            <a:ext cx="8082037" cy="198462"/>
          </a:xfrm>
          <a:prstGeom prst="rect">
            <a:avLst/>
          </a:prstGeom>
          <a:noFill/>
          <a:ln/>
        </p:spPr>
        <p:txBody>
          <a:bodyPr wrap="none" lIns="0" tIns="0" rIns="0" bIns="0" rtlCol="0" anchor="t"/>
          <a:lstStyle/>
          <a:p>
            <a:pPr algn="l" indent="0" marL="0">
              <a:lnSpc>
                <a:spcPct val="133000"/>
              </a:lnSpc>
              <a:buNone/>
            </a:pPr>
            <a:r>
              <a:rPr lang="ko-KR" altLang="en-US" sz="950" b="1" dirty="0">
                <a:solidFill>
                  <a:srgbClr val="000000"/>
                </a:solidFill>
                <a:latin typeface="Inter Bold" pitchFamily="34" charset="0"/>
                <a:ea typeface="Inter Bold" pitchFamily="34" charset="-122"/>
                <a:cs typeface="Inter Bold" pitchFamily="34" charset="-120"/>
              </a:rPr>
              <a:t>Dadumi</a:t>
            </a:r>
            <a:pPr algn="l" indent="0" marL="0">
              <a:lnSpc>
                <a:spcPct val="133000"/>
              </a:lnSpc>
              <a:buNone/>
            </a:pPr>
            <a:r>
              <a:rPr lang="ko-KR" altLang="en-US" sz="950" dirty="0">
                <a:solidFill>
                  <a:srgbClr val="000000"/>
                </a:solidFill>
                <a:latin typeface="Inter" pitchFamily="34" charset="0"/>
                <a:ea typeface="Inter" pitchFamily="34" charset="-122"/>
                <a:cs typeface="Inter" pitchFamily="34" charset="-120"/>
              </a:rPr>
              <a:t>는 오픈소스 생태계와 함께 성장합니다. GitHub에서 이슈 제보 및 PR을 환영합니다.</a:t>
            </a:r>
            <a:endParaRPr lang="ko-KR"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2026-07-01T02:18:24Z</dcterms:created>
  <dcterms:modified xsi:type="dcterms:W3CDTF">2026-07-01T02:18:24Z</dcterms:modified>
</cp:coreProperties>
</file>